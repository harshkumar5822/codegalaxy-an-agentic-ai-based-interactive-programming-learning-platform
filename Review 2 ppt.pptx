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67" r:id="rId2"/>
    <p:sldId id="268" r:id="rId3"/>
    <p:sldId id="269" r:id="rId4"/>
    <p:sldId id="265" r:id="rId5"/>
    <p:sldId id="260" r:id="rId6"/>
    <p:sldId id="280" r:id="rId7"/>
    <p:sldId id="261" r:id="rId8"/>
    <p:sldId id="264" r:id="rId9"/>
    <p:sldId id="571" r:id="rId10"/>
    <p:sldId id="283" r:id="rId11"/>
    <p:sldId id="572" r:id="rId12"/>
    <p:sldId id="573" r:id="rId13"/>
    <p:sldId id="574" r:id="rId14"/>
    <p:sldId id="575" r:id="rId15"/>
    <p:sldId id="576" r:id="rId16"/>
    <p:sldId id="577" r:id="rId17"/>
    <p:sldId id="578" r:id="rId18"/>
    <p:sldId id="579" r:id="rId19"/>
    <p:sldId id="580" r:id="rId20"/>
    <p:sldId id="581" r:id="rId21"/>
    <p:sldId id="279" r:id="rId22"/>
    <p:sldId id="582" r:id="rId23"/>
    <p:sldId id="553" r:id="rId24"/>
    <p:sldId id="585" r:id="rId25"/>
    <p:sldId id="559" r:id="rId26"/>
    <p:sldId id="586" r:id="rId27"/>
    <p:sldId id="556" r:id="rId28"/>
    <p:sldId id="587" r:id="rId29"/>
    <p:sldId id="589" r:id="rId30"/>
    <p:sldId id="590" r:id="rId31"/>
    <p:sldId id="370"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23F315-3BC9-4DEF-BE12-E2E1ABA86ADD}" v="22" dt="2026-07-26T12:33:59.5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82" d="100"/>
          <a:sy n="82" d="100"/>
        </p:scale>
        <p:origin x="67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itya Raj" userId="a1611ca9ef2d58b8" providerId="LiveId" clId="{433261A0-7DF9-4403-A4A3-23AE7DE6766B}"/>
    <pc:docChg chg="undo redo custSel modSld">
      <pc:chgData name="Aditya Raj" userId="a1611ca9ef2d58b8" providerId="LiveId" clId="{433261A0-7DF9-4403-A4A3-23AE7DE6766B}" dt="2026-07-26T12:38:15.885" v="326" actId="2710"/>
      <pc:docMkLst>
        <pc:docMk/>
      </pc:docMkLst>
      <pc:sldChg chg="modSp mod">
        <pc:chgData name="Aditya Raj" userId="a1611ca9ef2d58b8" providerId="LiveId" clId="{433261A0-7DF9-4403-A4A3-23AE7DE6766B}" dt="2026-07-26T12:36:39.499" v="318" actId="2710"/>
        <pc:sldMkLst>
          <pc:docMk/>
          <pc:sldMk cId="0" sldId="260"/>
        </pc:sldMkLst>
        <pc:spChg chg="mod">
          <ac:chgData name="Aditya Raj" userId="a1611ca9ef2d58b8" providerId="LiveId" clId="{433261A0-7DF9-4403-A4A3-23AE7DE6766B}" dt="2026-07-26T12:36:39.499" v="318" actId="2710"/>
          <ac:spMkLst>
            <pc:docMk/>
            <pc:sldMk cId="0" sldId="260"/>
            <ac:spMk id="1048600" creationId="{00000000-0000-0000-0000-000000000000}"/>
          </ac:spMkLst>
        </pc:spChg>
        <pc:spChg chg="mod">
          <ac:chgData name="Aditya Raj" userId="a1611ca9ef2d58b8" providerId="LiveId" clId="{433261A0-7DF9-4403-A4A3-23AE7DE6766B}" dt="2026-07-26T12:36:32.741" v="317" actId="2710"/>
          <ac:spMkLst>
            <pc:docMk/>
            <pc:sldMk cId="0" sldId="260"/>
            <ac:spMk id="1048601" creationId="{00000000-0000-0000-0000-000000000000}"/>
          </ac:spMkLst>
        </pc:spChg>
      </pc:sldChg>
      <pc:sldChg chg="modSp mod">
        <pc:chgData name="Aditya Raj" userId="a1611ca9ef2d58b8" providerId="LiveId" clId="{433261A0-7DF9-4403-A4A3-23AE7DE6766B}" dt="2026-07-26T12:38:15.885" v="326" actId="2710"/>
        <pc:sldMkLst>
          <pc:docMk/>
          <pc:sldMk cId="0" sldId="261"/>
        </pc:sldMkLst>
        <pc:spChg chg="mod">
          <ac:chgData name="Aditya Raj" userId="a1611ca9ef2d58b8" providerId="LiveId" clId="{433261A0-7DF9-4403-A4A3-23AE7DE6766B}" dt="2026-07-26T12:38:15.885" v="326" actId="2710"/>
          <ac:spMkLst>
            <pc:docMk/>
            <pc:sldMk cId="0" sldId="261"/>
            <ac:spMk id="1048604" creationId="{00000000-0000-0000-0000-000000000000}"/>
          </ac:spMkLst>
        </pc:spChg>
      </pc:sldChg>
      <pc:sldChg chg="modSp mod">
        <pc:chgData name="Aditya Raj" userId="a1611ca9ef2d58b8" providerId="LiveId" clId="{433261A0-7DF9-4403-A4A3-23AE7DE6766B}" dt="2026-07-26T12:35:53.664" v="313" actId="2711"/>
        <pc:sldMkLst>
          <pc:docMk/>
          <pc:sldMk cId="20243555" sldId="265"/>
        </pc:sldMkLst>
        <pc:spChg chg="mod">
          <ac:chgData name="Aditya Raj" userId="a1611ca9ef2d58b8" providerId="LiveId" clId="{433261A0-7DF9-4403-A4A3-23AE7DE6766B}" dt="2026-07-26T12:35:53.664" v="313" actId="2711"/>
          <ac:spMkLst>
            <pc:docMk/>
            <pc:sldMk cId="20243555" sldId="265"/>
            <ac:spMk id="3" creationId="{05AEC0F1-9C19-B677-F392-2831CD230FC5}"/>
          </ac:spMkLst>
        </pc:spChg>
      </pc:sldChg>
      <pc:sldChg chg="delSp modSp mod">
        <pc:chgData name="Aditya Raj" userId="a1611ca9ef2d58b8" providerId="LiveId" clId="{433261A0-7DF9-4403-A4A3-23AE7DE6766B}" dt="2026-07-26T12:08:03.824" v="66"/>
        <pc:sldMkLst>
          <pc:docMk/>
          <pc:sldMk cId="0" sldId="267"/>
        </pc:sldMkLst>
        <pc:spChg chg="mod">
          <ac:chgData name="Aditya Raj" userId="a1611ca9ef2d58b8" providerId="LiveId" clId="{433261A0-7DF9-4403-A4A3-23AE7DE6766B}" dt="2026-07-26T12:07:42.173" v="63" actId="2711"/>
          <ac:spMkLst>
            <pc:docMk/>
            <pc:sldMk cId="0" sldId="267"/>
            <ac:spMk id="2" creationId="{A0D7C4CA-CA81-45E7-831F-559F5E30F6E2}"/>
          </ac:spMkLst>
        </pc:spChg>
        <pc:spChg chg="mod">
          <ac:chgData name="Aditya Raj" userId="a1611ca9ef2d58b8" providerId="LiveId" clId="{433261A0-7DF9-4403-A4A3-23AE7DE6766B}" dt="2026-07-26T12:07:33.425" v="62" actId="2711"/>
          <ac:spMkLst>
            <pc:docMk/>
            <pc:sldMk cId="0" sldId="267"/>
            <ac:spMk id="10" creationId="{702890B3-702A-4378-8ABF-40CCB19A72E6}"/>
          </ac:spMkLst>
        </pc:spChg>
        <pc:spChg chg="mod">
          <ac:chgData name="Aditya Raj" userId="a1611ca9ef2d58b8" providerId="LiveId" clId="{433261A0-7DF9-4403-A4A3-23AE7DE6766B}" dt="2026-07-26T12:06:13.937" v="3" actId="1076"/>
          <ac:spMkLst>
            <pc:docMk/>
            <pc:sldMk cId="0" sldId="267"/>
            <ac:spMk id="1048587" creationId="{00000000-0000-0000-0000-000000000000}"/>
          </ac:spMkLst>
        </pc:spChg>
        <pc:spChg chg="del mod">
          <ac:chgData name="Aditya Raj" userId="a1611ca9ef2d58b8" providerId="LiveId" clId="{433261A0-7DF9-4403-A4A3-23AE7DE6766B}" dt="2026-07-26T12:08:03.824" v="66"/>
          <ac:spMkLst>
            <pc:docMk/>
            <pc:sldMk cId="0" sldId="267"/>
            <ac:spMk id="1048590" creationId="{00000000-0000-0000-0000-000000000000}"/>
          </ac:spMkLst>
        </pc:spChg>
      </pc:sldChg>
      <pc:sldChg chg="modSp mod">
        <pc:chgData name="Aditya Raj" userId="a1611ca9ef2d58b8" providerId="LiveId" clId="{433261A0-7DF9-4403-A4A3-23AE7DE6766B}" dt="2026-07-26T12:35:36.038" v="311" actId="2710"/>
        <pc:sldMkLst>
          <pc:docMk/>
          <pc:sldMk cId="0" sldId="268"/>
        </pc:sldMkLst>
        <pc:spChg chg="mod">
          <ac:chgData name="Aditya Raj" userId="a1611ca9ef2d58b8" providerId="LiveId" clId="{433261A0-7DF9-4403-A4A3-23AE7DE6766B}" dt="2026-07-26T12:35:36.038" v="311" actId="2710"/>
          <ac:spMkLst>
            <pc:docMk/>
            <pc:sldMk cId="0" sldId="268"/>
            <ac:spMk id="3" creationId="{9368D1A8-A519-5053-F2C1-F5AFA988EC4C}"/>
          </ac:spMkLst>
        </pc:spChg>
      </pc:sldChg>
      <pc:sldChg chg="modSp mod">
        <pc:chgData name="Aditya Raj" userId="a1611ca9ef2d58b8" providerId="LiveId" clId="{433261A0-7DF9-4403-A4A3-23AE7DE6766B}" dt="2026-07-26T12:17:26.556" v="174" actId="113"/>
        <pc:sldMkLst>
          <pc:docMk/>
          <pc:sldMk cId="0" sldId="269"/>
        </pc:sldMkLst>
        <pc:spChg chg="mod">
          <ac:chgData name="Aditya Raj" userId="a1611ca9ef2d58b8" providerId="LiveId" clId="{433261A0-7DF9-4403-A4A3-23AE7DE6766B}" dt="2026-07-26T12:17:26.556" v="174" actId="113"/>
          <ac:spMkLst>
            <pc:docMk/>
            <pc:sldMk cId="0" sldId="269"/>
            <ac:spMk id="1048595" creationId="{00000000-0000-0000-0000-000000000000}"/>
          </ac:spMkLst>
        </pc:spChg>
      </pc:sldChg>
      <pc:sldChg chg="modSp mod">
        <pc:chgData name="Aditya Raj" userId="a1611ca9ef2d58b8" providerId="LiveId" clId="{433261A0-7DF9-4403-A4A3-23AE7DE6766B}" dt="2026-07-26T12:37:16.650" v="321" actId="2710"/>
        <pc:sldMkLst>
          <pc:docMk/>
          <pc:sldMk cId="2311390377" sldId="280"/>
        </pc:sldMkLst>
        <pc:spChg chg="mod">
          <ac:chgData name="Aditya Raj" userId="a1611ca9ef2d58b8" providerId="LiveId" clId="{433261A0-7DF9-4403-A4A3-23AE7DE6766B}" dt="2026-07-26T12:37:16.650" v="321" actId="2710"/>
          <ac:spMkLst>
            <pc:docMk/>
            <pc:sldMk cId="2311390377" sldId="280"/>
            <ac:spMk id="104860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62"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663"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664"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665"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6"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667"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09"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1048610"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1048611" name="Date Placeholder 3"/>
          <p:cNvSpPr>
            <a:spLocks noGrp="1"/>
          </p:cNvSpPr>
          <p:nvPr>
            <p:ph type="dt" sz="half" idx="10"/>
          </p:nvPr>
        </p:nvSpPr>
        <p:spPr/>
        <p:txBody>
          <a:bodyPr/>
          <a:lstStyle/>
          <a:p>
            <a:fld id="{4A27E7D1-18E9-4FCA-A891-5E948E9F1D17}" type="datetimeFigureOut">
              <a:rPr lang="en-IN" smtClean="0"/>
              <a:t>26-07-2026</a:t>
            </a:fld>
            <a:endParaRPr lang="en-IN"/>
          </a:p>
        </p:txBody>
      </p:sp>
      <p:sp>
        <p:nvSpPr>
          <p:cNvPr id="1048612" name="Footer Placeholder 4"/>
          <p:cNvSpPr>
            <a:spLocks noGrp="1"/>
          </p:cNvSpPr>
          <p:nvPr>
            <p:ph type="ftr" sz="quarter" idx="11"/>
          </p:nvPr>
        </p:nvSpPr>
        <p:spPr/>
        <p:txBody>
          <a:bodyPr/>
          <a:lstStyle/>
          <a:p>
            <a:endParaRPr lang="en-IN"/>
          </a:p>
        </p:txBody>
      </p:sp>
      <p:sp>
        <p:nvSpPr>
          <p:cNvPr id="1048613" name="Slide Number Placeholder 5"/>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1" name="Title 1"/>
          <p:cNvSpPr>
            <a:spLocks noGrp="1"/>
          </p:cNvSpPr>
          <p:nvPr>
            <p:ph type="title"/>
          </p:nvPr>
        </p:nvSpPr>
        <p:spPr/>
        <p:txBody>
          <a:bodyPr/>
          <a:lstStyle/>
          <a:p>
            <a:r>
              <a:rPr lang="en-US"/>
              <a:t>Click to edit Master title style</a:t>
            </a:r>
            <a:endParaRPr lang="en-IN"/>
          </a:p>
        </p:txBody>
      </p:sp>
      <p:sp>
        <p:nvSpPr>
          <p:cNvPr id="1048582"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83" name="Date Placeholder 3"/>
          <p:cNvSpPr>
            <a:spLocks noGrp="1"/>
          </p:cNvSpPr>
          <p:nvPr>
            <p:ph type="dt" sz="half" idx="10"/>
          </p:nvPr>
        </p:nvSpPr>
        <p:spPr/>
        <p:txBody>
          <a:bodyPr/>
          <a:lstStyle/>
          <a:p>
            <a:fld id="{4A27E7D1-18E9-4FCA-A891-5E948E9F1D17}" type="datetimeFigureOut">
              <a:rPr lang="en-IN" smtClean="0"/>
              <a:t>26-07-2026</a:t>
            </a:fld>
            <a:endParaRPr lang="en-IN"/>
          </a:p>
        </p:txBody>
      </p:sp>
      <p:sp>
        <p:nvSpPr>
          <p:cNvPr id="1048584" name="Footer Placeholder 4"/>
          <p:cNvSpPr>
            <a:spLocks noGrp="1"/>
          </p:cNvSpPr>
          <p:nvPr>
            <p:ph type="ftr" sz="quarter" idx="11"/>
          </p:nvPr>
        </p:nvSpPr>
        <p:spPr/>
        <p:txBody>
          <a:bodyPr/>
          <a:lstStyle/>
          <a:p>
            <a:endParaRPr lang="en-IN"/>
          </a:p>
        </p:txBody>
      </p:sp>
      <p:sp>
        <p:nvSpPr>
          <p:cNvPr id="1048585" name="Slide Number Placeholder 5"/>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34"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1048635"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48636" name="Date Placeholder 3"/>
          <p:cNvSpPr>
            <a:spLocks noGrp="1"/>
          </p:cNvSpPr>
          <p:nvPr>
            <p:ph type="dt" sz="half" idx="10"/>
          </p:nvPr>
        </p:nvSpPr>
        <p:spPr/>
        <p:txBody>
          <a:bodyPr/>
          <a:lstStyle/>
          <a:p>
            <a:fld id="{4A27E7D1-18E9-4FCA-A891-5E948E9F1D17}" type="datetimeFigureOut">
              <a:rPr lang="en-IN" smtClean="0"/>
              <a:t>26-07-2026</a:t>
            </a:fld>
            <a:endParaRPr lang="en-IN"/>
          </a:p>
        </p:txBody>
      </p:sp>
      <p:sp>
        <p:nvSpPr>
          <p:cNvPr id="1048637" name="Footer Placeholder 4"/>
          <p:cNvSpPr>
            <a:spLocks noGrp="1"/>
          </p:cNvSpPr>
          <p:nvPr>
            <p:ph type="ftr" sz="quarter" idx="11"/>
          </p:nvPr>
        </p:nvSpPr>
        <p:spPr/>
        <p:txBody>
          <a:bodyPr/>
          <a:lstStyle/>
          <a:p>
            <a:endParaRPr lang="en-IN"/>
          </a:p>
        </p:txBody>
      </p:sp>
      <p:sp>
        <p:nvSpPr>
          <p:cNvPr id="1048638" name="Slide Number Placeholder 5"/>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39" name="Title 1"/>
          <p:cNvSpPr>
            <a:spLocks noGrp="1"/>
          </p:cNvSpPr>
          <p:nvPr>
            <p:ph type="title"/>
          </p:nvPr>
        </p:nvSpPr>
        <p:spPr/>
        <p:txBody>
          <a:bodyPr/>
          <a:lstStyle/>
          <a:p>
            <a:r>
              <a:rPr lang="en-US"/>
              <a:t>Click to edit Master title style</a:t>
            </a:r>
            <a:endParaRPr lang="en-IN"/>
          </a:p>
        </p:txBody>
      </p:sp>
      <p:sp>
        <p:nvSpPr>
          <p:cNvPr id="1048640"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41"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42" name="Date Placeholder 4"/>
          <p:cNvSpPr>
            <a:spLocks noGrp="1"/>
          </p:cNvSpPr>
          <p:nvPr>
            <p:ph type="dt" sz="half" idx="10"/>
          </p:nvPr>
        </p:nvSpPr>
        <p:spPr/>
        <p:txBody>
          <a:bodyPr/>
          <a:lstStyle/>
          <a:p>
            <a:fld id="{4A27E7D1-18E9-4FCA-A891-5E948E9F1D17}" type="datetimeFigureOut">
              <a:rPr lang="en-IN" smtClean="0"/>
              <a:t>26-07-2026</a:t>
            </a:fld>
            <a:endParaRPr lang="en-IN"/>
          </a:p>
        </p:txBody>
      </p:sp>
      <p:sp>
        <p:nvSpPr>
          <p:cNvPr id="1048643" name="Footer Placeholder 5"/>
          <p:cNvSpPr>
            <a:spLocks noGrp="1"/>
          </p:cNvSpPr>
          <p:nvPr>
            <p:ph type="ftr" sz="quarter" idx="11"/>
          </p:nvPr>
        </p:nvSpPr>
        <p:spPr/>
        <p:txBody>
          <a:bodyPr/>
          <a:lstStyle/>
          <a:p>
            <a:endParaRPr lang="en-IN"/>
          </a:p>
        </p:txBody>
      </p:sp>
      <p:sp>
        <p:nvSpPr>
          <p:cNvPr id="1048644" name="Slide Number Placeholder 6"/>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45"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1048646"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47"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48"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49"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50" name="Date Placeholder 6"/>
          <p:cNvSpPr>
            <a:spLocks noGrp="1"/>
          </p:cNvSpPr>
          <p:nvPr>
            <p:ph type="dt" sz="half" idx="10"/>
          </p:nvPr>
        </p:nvSpPr>
        <p:spPr/>
        <p:txBody>
          <a:bodyPr/>
          <a:lstStyle/>
          <a:p>
            <a:fld id="{4A27E7D1-18E9-4FCA-A891-5E948E9F1D17}" type="datetimeFigureOut">
              <a:rPr lang="en-IN" smtClean="0"/>
              <a:t>26-07-2026</a:t>
            </a:fld>
            <a:endParaRPr lang="en-IN"/>
          </a:p>
        </p:txBody>
      </p:sp>
      <p:sp>
        <p:nvSpPr>
          <p:cNvPr id="1048651" name="Footer Placeholder 7"/>
          <p:cNvSpPr>
            <a:spLocks noGrp="1"/>
          </p:cNvSpPr>
          <p:nvPr>
            <p:ph type="ftr" sz="quarter" idx="11"/>
          </p:nvPr>
        </p:nvSpPr>
        <p:spPr/>
        <p:txBody>
          <a:bodyPr/>
          <a:lstStyle/>
          <a:p>
            <a:endParaRPr lang="en-IN"/>
          </a:p>
        </p:txBody>
      </p:sp>
      <p:sp>
        <p:nvSpPr>
          <p:cNvPr id="1048652" name="Slide Number Placeholder 8"/>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14" name="Title 1"/>
          <p:cNvSpPr>
            <a:spLocks noGrp="1"/>
          </p:cNvSpPr>
          <p:nvPr>
            <p:ph type="title"/>
          </p:nvPr>
        </p:nvSpPr>
        <p:spPr/>
        <p:txBody>
          <a:bodyPr/>
          <a:lstStyle/>
          <a:p>
            <a:r>
              <a:rPr lang="en-US"/>
              <a:t>Click to edit Master title style</a:t>
            </a:r>
            <a:endParaRPr lang="en-IN"/>
          </a:p>
        </p:txBody>
      </p:sp>
      <p:sp>
        <p:nvSpPr>
          <p:cNvPr id="1048615" name="Date Placeholder 2"/>
          <p:cNvSpPr>
            <a:spLocks noGrp="1"/>
          </p:cNvSpPr>
          <p:nvPr>
            <p:ph type="dt" sz="half" idx="10"/>
          </p:nvPr>
        </p:nvSpPr>
        <p:spPr/>
        <p:txBody>
          <a:bodyPr/>
          <a:lstStyle/>
          <a:p>
            <a:fld id="{4A27E7D1-18E9-4FCA-A891-5E948E9F1D17}" type="datetimeFigureOut">
              <a:rPr lang="en-IN" smtClean="0"/>
              <a:t>26-07-2026</a:t>
            </a:fld>
            <a:endParaRPr lang="en-IN"/>
          </a:p>
        </p:txBody>
      </p:sp>
      <p:sp>
        <p:nvSpPr>
          <p:cNvPr id="1048616" name="Footer Placeholder 3"/>
          <p:cNvSpPr>
            <a:spLocks noGrp="1"/>
          </p:cNvSpPr>
          <p:nvPr>
            <p:ph type="ftr" sz="quarter" idx="11"/>
          </p:nvPr>
        </p:nvSpPr>
        <p:spPr/>
        <p:txBody>
          <a:bodyPr/>
          <a:lstStyle/>
          <a:p>
            <a:endParaRPr lang="en-IN"/>
          </a:p>
        </p:txBody>
      </p:sp>
      <p:sp>
        <p:nvSpPr>
          <p:cNvPr id="1048617" name="Slide Number Placeholder 4"/>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53" name="Date Placeholder 1"/>
          <p:cNvSpPr>
            <a:spLocks noGrp="1"/>
          </p:cNvSpPr>
          <p:nvPr>
            <p:ph type="dt" sz="half" idx="10"/>
          </p:nvPr>
        </p:nvSpPr>
        <p:spPr/>
        <p:txBody>
          <a:bodyPr/>
          <a:lstStyle/>
          <a:p>
            <a:fld id="{4A27E7D1-18E9-4FCA-A891-5E948E9F1D17}" type="datetimeFigureOut">
              <a:rPr lang="en-IN" smtClean="0"/>
              <a:t>26-07-2026</a:t>
            </a:fld>
            <a:endParaRPr lang="en-IN"/>
          </a:p>
        </p:txBody>
      </p:sp>
      <p:sp>
        <p:nvSpPr>
          <p:cNvPr id="1048654" name="Footer Placeholder 2"/>
          <p:cNvSpPr>
            <a:spLocks noGrp="1"/>
          </p:cNvSpPr>
          <p:nvPr>
            <p:ph type="ftr" sz="quarter" idx="11"/>
          </p:nvPr>
        </p:nvSpPr>
        <p:spPr/>
        <p:txBody>
          <a:bodyPr/>
          <a:lstStyle/>
          <a:p>
            <a:endParaRPr lang="en-IN"/>
          </a:p>
        </p:txBody>
      </p:sp>
      <p:sp>
        <p:nvSpPr>
          <p:cNvPr id="1048655" name="Slide Number Placeholder 3"/>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56"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657"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58"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59" name="Date Placeholder 4"/>
          <p:cNvSpPr>
            <a:spLocks noGrp="1"/>
          </p:cNvSpPr>
          <p:nvPr>
            <p:ph type="dt" sz="half" idx="10"/>
          </p:nvPr>
        </p:nvSpPr>
        <p:spPr/>
        <p:txBody>
          <a:bodyPr/>
          <a:lstStyle/>
          <a:p>
            <a:fld id="{4A27E7D1-18E9-4FCA-A891-5E948E9F1D17}" type="datetimeFigureOut">
              <a:rPr lang="en-IN" smtClean="0"/>
              <a:t>26-07-2026</a:t>
            </a:fld>
            <a:endParaRPr lang="en-IN"/>
          </a:p>
        </p:txBody>
      </p:sp>
      <p:sp>
        <p:nvSpPr>
          <p:cNvPr id="1048660" name="Footer Placeholder 5"/>
          <p:cNvSpPr>
            <a:spLocks noGrp="1"/>
          </p:cNvSpPr>
          <p:nvPr>
            <p:ph type="ftr" sz="quarter" idx="11"/>
          </p:nvPr>
        </p:nvSpPr>
        <p:spPr/>
        <p:txBody>
          <a:bodyPr/>
          <a:lstStyle/>
          <a:p>
            <a:endParaRPr lang="en-IN"/>
          </a:p>
        </p:txBody>
      </p:sp>
      <p:sp>
        <p:nvSpPr>
          <p:cNvPr id="1048661" name="Slide Number Placeholder 6"/>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23"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624"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1048625"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26" name="Date Placeholder 4"/>
          <p:cNvSpPr>
            <a:spLocks noGrp="1"/>
          </p:cNvSpPr>
          <p:nvPr>
            <p:ph type="dt" sz="half" idx="10"/>
          </p:nvPr>
        </p:nvSpPr>
        <p:spPr/>
        <p:txBody>
          <a:bodyPr/>
          <a:lstStyle/>
          <a:p>
            <a:fld id="{4A27E7D1-18E9-4FCA-A891-5E948E9F1D17}" type="datetimeFigureOut">
              <a:rPr lang="en-IN" smtClean="0"/>
              <a:t>26-07-2026</a:t>
            </a:fld>
            <a:endParaRPr lang="en-IN"/>
          </a:p>
        </p:txBody>
      </p:sp>
      <p:sp>
        <p:nvSpPr>
          <p:cNvPr id="1048627" name="Footer Placeholder 5"/>
          <p:cNvSpPr>
            <a:spLocks noGrp="1"/>
          </p:cNvSpPr>
          <p:nvPr>
            <p:ph type="ftr" sz="quarter" idx="11"/>
          </p:nvPr>
        </p:nvSpPr>
        <p:spPr/>
        <p:txBody>
          <a:bodyPr/>
          <a:lstStyle/>
          <a:p>
            <a:endParaRPr lang="en-IN"/>
          </a:p>
        </p:txBody>
      </p:sp>
      <p:sp>
        <p:nvSpPr>
          <p:cNvPr id="1048628" name="Slide Number Placeholder 6"/>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29" name="Title 1"/>
          <p:cNvSpPr>
            <a:spLocks noGrp="1"/>
          </p:cNvSpPr>
          <p:nvPr>
            <p:ph type="title"/>
          </p:nvPr>
        </p:nvSpPr>
        <p:spPr/>
        <p:txBody>
          <a:bodyPr/>
          <a:lstStyle/>
          <a:p>
            <a:r>
              <a:rPr lang="en-US"/>
              <a:t>Click to edit Master title style</a:t>
            </a:r>
            <a:endParaRPr lang="en-IN"/>
          </a:p>
        </p:txBody>
      </p:sp>
      <p:sp>
        <p:nvSpPr>
          <p:cNvPr id="1048630"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31" name="Date Placeholder 3"/>
          <p:cNvSpPr>
            <a:spLocks noGrp="1"/>
          </p:cNvSpPr>
          <p:nvPr>
            <p:ph type="dt" sz="half" idx="10"/>
          </p:nvPr>
        </p:nvSpPr>
        <p:spPr/>
        <p:txBody>
          <a:bodyPr/>
          <a:lstStyle/>
          <a:p>
            <a:fld id="{4A27E7D1-18E9-4FCA-A891-5E948E9F1D17}" type="datetimeFigureOut">
              <a:rPr lang="en-IN" smtClean="0"/>
              <a:t>26-07-2026</a:t>
            </a:fld>
            <a:endParaRPr lang="en-IN"/>
          </a:p>
        </p:txBody>
      </p:sp>
      <p:sp>
        <p:nvSpPr>
          <p:cNvPr id="1048632" name="Footer Placeholder 4"/>
          <p:cNvSpPr>
            <a:spLocks noGrp="1"/>
          </p:cNvSpPr>
          <p:nvPr>
            <p:ph type="ftr" sz="quarter" idx="11"/>
          </p:nvPr>
        </p:nvSpPr>
        <p:spPr/>
        <p:txBody>
          <a:bodyPr/>
          <a:lstStyle/>
          <a:p>
            <a:endParaRPr lang="en-IN"/>
          </a:p>
        </p:txBody>
      </p:sp>
      <p:sp>
        <p:nvSpPr>
          <p:cNvPr id="1048633" name="Slide Number Placeholder 5"/>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18"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1048619"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20" name="Date Placeholder 3"/>
          <p:cNvSpPr>
            <a:spLocks noGrp="1"/>
          </p:cNvSpPr>
          <p:nvPr>
            <p:ph type="dt" sz="half" idx="10"/>
          </p:nvPr>
        </p:nvSpPr>
        <p:spPr/>
        <p:txBody>
          <a:bodyPr/>
          <a:lstStyle/>
          <a:p>
            <a:fld id="{4A27E7D1-18E9-4FCA-A891-5E948E9F1D17}" type="datetimeFigureOut">
              <a:rPr lang="en-IN" smtClean="0"/>
              <a:t>26-07-2026</a:t>
            </a:fld>
            <a:endParaRPr lang="en-IN"/>
          </a:p>
        </p:txBody>
      </p:sp>
      <p:sp>
        <p:nvSpPr>
          <p:cNvPr id="1048621" name="Footer Placeholder 4"/>
          <p:cNvSpPr>
            <a:spLocks noGrp="1"/>
          </p:cNvSpPr>
          <p:nvPr>
            <p:ph type="ftr" sz="quarter" idx="11"/>
          </p:nvPr>
        </p:nvSpPr>
        <p:spPr/>
        <p:txBody>
          <a:bodyPr/>
          <a:lstStyle/>
          <a:p>
            <a:endParaRPr lang="en-IN"/>
          </a:p>
        </p:txBody>
      </p:sp>
      <p:sp>
        <p:nvSpPr>
          <p:cNvPr id="1048622" name="Slide Number Placeholder 5"/>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1048577"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78"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27E7D1-18E9-4FCA-A891-5E948E9F1D17}" type="datetimeFigureOut">
              <a:rPr lang="en-IN" smtClean="0"/>
              <a:t>26-07-2026</a:t>
            </a:fld>
            <a:endParaRPr lang="en-IN"/>
          </a:p>
        </p:txBody>
      </p:sp>
      <p:sp>
        <p:nvSpPr>
          <p:cNvPr id="1048579"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1048580"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024382-CAFE-4BC1-8D04-999FB0D8C64E}"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object 2"/>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1048587" name="object 3"/>
          <p:cNvSpPr txBox="1">
            <a:spLocks noGrp="1"/>
          </p:cNvSpPr>
          <p:nvPr>
            <p:ph type="title"/>
          </p:nvPr>
        </p:nvSpPr>
        <p:spPr>
          <a:xfrm>
            <a:off x="1185917" y="236422"/>
            <a:ext cx="9816860" cy="1120820"/>
          </a:xfrm>
          <a:prstGeom prst="rect">
            <a:avLst/>
          </a:prstGeom>
        </p:spPr>
        <p:txBody>
          <a:bodyPr vert="horz" wrap="square" lIns="0" tIns="12700" rIns="0" bIns="0" rtlCol="0">
            <a:spAutoFit/>
          </a:bodyPr>
          <a:lstStyle/>
          <a:p>
            <a:pPr marL="12700" algn="ctr">
              <a:lnSpc>
                <a:spcPct val="100000"/>
              </a:lnSpc>
              <a:spcBef>
                <a:spcPts val="100"/>
              </a:spcBef>
            </a:pPr>
            <a:r>
              <a:rPr lang="en-US" sz="3600" b="1" dirty="0" err="1">
                <a:solidFill>
                  <a:srgbClr val="FF0000"/>
                </a:solidFill>
                <a:latin typeface="Times New Roman" panose="02020603050405020304" pitchFamily="18" charset="0"/>
                <a:cs typeface="Times New Roman" panose="02020603050405020304" pitchFamily="18" charset="0"/>
              </a:rPr>
              <a:t>CodeGalaxy</a:t>
            </a:r>
            <a:r>
              <a:rPr lang="en-US" sz="3600" b="1" dirty="0">
                <a:solidFill>
                  <a:srgbClr val="FF0000"/>
                </a:solidFill>
                <a:latin typeface="Times New Roman" panose="02020603050405020304" pitchFamily="18" charset="0"/>
                <a:cs typeface="Times New Roman" panose="02020603050405020304" pitchFamily="18" charset="0"/>
              </a:rPr>
              <a:t>:  An Agentic AI Based Interactive Programming Learning Platform</a:t>
            </a:r>
          </a:p>
        </p:txBody>
      </p:sp>
      <p:sp>
        <p:nvSpPr>
          <p:cNvPr id="1048589" name="object 6"/>
          <p:cNvSpPr txBox="1"/>
          <p:nvPr/>
        </p:nvSpPr>
        <p:spPr>
          <a:xfrm>
            <a:off x="3623372" y="5088548"/>
            <a:ext cx="4941952" cy="1257427"/>
          </a:xfrm>
          <a:prstGeom prst="rect">
            <a:avLst/>
          </a:prstGeom>
        </p:spPr>
        <p:txBody>
          <a:bodyPr vert="horz" wrap="square" lIns="0" tIns="58419" rIns="0" bIns="0" rtlCol="0">
            <a:spAutoFit/>
          </a:bodyPr>
          <a:lstStyle/>
          <a:p>
            <a:pPr marL="12700" marR="5080" indent="-635" algn="ctr">
              <a:lnSpc>
                <a:spcPct val="104900"/>
              </a:lnSpc>
            </a:pPr>
            <a:r>
              <a:rPr lang="en-IN" b="1" spc="-5" dirty="0">
                <a:solidFill>
                  <a:srgbClr val="0004A1"/>
                </a:solidFill>
                <a:latin typeface="Times New Roman" panose="02020603050405020304" pitchFamily="18" charset="0"/>
                <a:cs typeface="Times New Roman" panose="02020603050405020304" pitchFamily="18" charset="0"/>
              </a:rPr>
              <a:t>Department of Cyber Security </a:t>
            </a:r>
          </a:p>
          <a:p>
            <a:pPr marL="12700" marR="5080" indent="-635" algn="ctr">
              <a:lnSpc>
                <a:spcPct val="104900"/>
              </a:lnSpc>
            </a:pPr>
            <a:r>
              <a:rPr lang="en-IN" b="1" spc="-5" dirty="0">
                <a:solidFill>
                  <a:srgbClr val="0004A1"/>
                </a:solidFill>
                <a:latin typeface="Times New Roman" panose="02020603050405020304" pitchFamily="18" charset="0"/>
                <a:cs typeface="Times New Roman" panose="02020603050405020304" pitchFamily="18" charset="0"/>
              </a:rPr>
              <a:t>School of Engineering</a:t>
            </a:r>
          </a:p>
          <a:p>
            <a:pPr marL="12700" marR="5080" indent="-635" algn="ctr">
              <a:lnSpc>
                <a:spcPct val="104900"/>
              </a:lnSpc>
            </a:pPr>
            <a:r>
              <a:rPr lang="en-IN" sz="2000" b="1" spc="-15" dirty="0">
                <a:solidFill>
                  <a:srgbClr val="0004A1"/>
                </a:solidFill>
                <a:latin typeface="Times New Roman" panose="02020603050405020304" pitchFamily="18" charset="0"/>
                <a:cs typeface="Times New Roman" panose="02020603050405020304" pitchFamily="18" charset="0"/>
              </a:rPr>
              <a:t>Malla Reddy University</a:t>
            </a:r>
          </a:p>
          <a:p>
            <a:pPr marL="12700" marR="5080" indent="-635" algn="ctr">
              <a:lnSpc>
                <a:spcPct val="104900"/>
              </a:lnSpc>
            </a:pPr>
            <a:r>
              <a:rPr lang="en-IN" sz="2000" b="1" spc="-5" dirty="0">
                <a:solidFill>
                  <a:srgbClr val="0004A1"/>
                </a:solidFill>
                <a:latin typeface="Times New Roman" panose="02020603050405020304" pitchFamily="18" charset="0"/>
                <a:cs typeface="Times New Roman" panose="02020603050405020304" pitchFamily="18" charset="0"/>
              </a:rPr>
              <a:t>Hyderabad, </a:t>
            </a:r>
            <a:r>
              <a:rPr lang="en-IN" sz="2000" b="1" spc="-70" dirty="0">
                <a:solidFill>
                  <a:srgbClr val="0004A1"/>
                </a:solidFill>
                <a:latin typeface="Times New Roman" panose="02020603050405020304" pitchFamily="18" charset="0"/>
                <a:cs typeface="Times New Roman" panose="02020603050405020304" pitchFamily="18" charset="0"/>
              </a:rPr>
              <a:t>Telangana,</a:t>
            </a:r>
            <a:r>
              <a:rPr lang="en-IN" sz="2000" b="1" spc="-305" dirty="0">
                <a:solidFill>
                  <a:srgbClr val="0004A1"/>
                </a:solidFill>
                <a:latin typeface="Times New Roman" panose="02020603050405020304" pitchFamily="18" charset="0"/>
                <a:cs typeface="Times New Roman" panose="02020603050405020304" pitchFamily="18" charset="0"/>
              </a:rPr>
              <a:t>  </a:t>
            </a:r>
            <a:r>
              <a:rPr lang="en-IN" sz="2000" b="1" spc="-5" dirty="0">
                <a:solidFill>
                  <a:srgbClr val="0004A1"/>
                </a:solidFill>
                <a:latin typeface="Times New Roman" panose="02020603050405020304" pitchFamily="18" charset="0"/>
                <a:cs typeface="Times New Roman" panose="02020603050405020304" pitchFamily="18" charset="0"/>
              </a:rPr>
              <a:t>INDIA</a:t>
            </a:r>
            <a:endParaRPr lang="en-IN" sz="2000" dirty="0">
              <a:latin typeface="Times New Roman" panose="02020603050405020304" pitchFamily="18" charset="0"/>
              <a:cs typeface="Times New Roman" panose="02020603050405020304" pitchFamily="18" charset="0"/>
            </a:endParaRPr>
          </a:p>
        </p:txBody>
      </p:sp>
      <p:pic>
        <p:nvPicPr>
          <p:cNvPr id="2097152" name="object 7"/>
          <p:cNvPicPr>
            <a:picLocks/>
          </p:cNvPicPr>
          <p:nvPr/>
        </p:nvPicPr>
        <p:blipFill>
          <a:blip r:embed="rId2" cstate="print"/>
          <a:stretch>
            <a:fillRect/>
          </a:stretch>
        </p:blipFill>
        <p:spPr>
          <a:xfrm>
            <a:off x="609600" y="4693422"/>
            <a:ext cx="1752600" cy="1680972"/>
          </a:xfrm>
          <a:prstGeom prst="rect">
            <a:avLst/>
          </a:prstGeom>
        </p:spPr>
      </p:pic>
      <p:sp>
        <p:nvSpPr>
          <p:cNvPr id="1048591" name="TextBox 8"/>
          <p:cNvSpPr txBox="1"/>
          <p:nvPr/>
        </p:nvSpPr>
        <p:spPr>
          <a:xfrm>
            <a:off x="5649502" y="1408825"/>
            <a:ext cx="444845" cy="307777"/>
          </a:xfrm>
          <a:prstGeom prst="rect">
            <a:avLst/>
          </a:prstGeom>
          <a:noFill/>
        </p:spPr>
        <p:txBody>
          <a:bodyPr wrap="square" rtlCol="0">
            <a:spAutoFit/>
          </a:bodyPr>
          <a:lstStyle/>
          <a:p>
            <a:r>
              <a:rPr lang="en-US" sz="1400" b="1" dirty="0">
                <a:latin typeface="Times New Roman" panose="02020603050405020304" pitchFamily="18" charset="0"/>
                <a:cs typeface="Times New Roman" panose="02020603050405020304" pitchFamily="18" charset="0"/>
              </a:rPr>
              <a:t>By</a:t>
            </a:r>
            <a:endParaRPr lang="en-IN" sz="1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A0D7C4CA-CA81-45E7-831F-559F5E30F6E2}"/>
              </a:ext>
            </a:extLst>
          </p:cNvPr>
          <p:cNvSpPr txBox="1"/>
          <p:nvPr/>
        </p:nvSpPr>
        <p:spPr>
          <a:xfrm>
            <a:off x="3949148" y="1815548"/>
            <a:ext cx="1700354"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2311CS040064</a:t>
            </a:r>
          </a:p>
          <a:p>
            <a:r>
              <a:rPr lang="en-US" dirty="0">
                <a:latin typeface="Times New Roman" panose="02020603050405020304" pitchFamily="18" charset="0"/>
                <a:cs typeface="Times New Roman" panose="02020603050405020304" pitchFamily="18" charset="0"/>
              </a:rPr>
              <a:t>2311CS040003</a:t>
            </a:r>
          </a:p>
          <a:p>
            <a:r>
              <a:rPr lang="en-US" dirty="0">
                <a:latin typeface="Times New Roman" panose="02020603050405020304" pitchFamily="18" charset="0"/>
                <a:cs typeface="Times New Roman" panose="02020603050405020304" pitchFamily="18" charset="0"/>
              </a:rPr>
              <a:t>2311CS040006</a:t>
            </a:r>
            <a:endParaRPr lang="en-IN"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702890B3-702A-4378-8ABF-40CCB19A72E6}"/>
              </a:ext>
            </a:extLst>
          </p:cNvPr>
          <p:cNvSpPr txBox="1"/>
          <p:nvPr/>
        </p:nvSpPr>
        <p:spPr>
          <a:xfrm>
            <a:off x="5931243" y="1815548"/>
            <a:ext cx="3526731"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Harsh Kumar</a:t>
            </a:r>
          </a:p>
          <a:p>
            <a:r>
              <a:rPr lang="en-US" dirty="0">
                <a:latin typeface="Times New Roman" panose="02020603050405020304" pitchFamily="18" charset="0"/>
                <a:cs typeface="Times New Roman" panose="02020603050405020304" pitchFamily="18" charset="0"/>
              </a:rPr>
              <a:t>Abhishek Pratap</a:t>
            </a:r>
          </a:p>
          <a:p>
            <a:r>
              <a:rPr lang="en-US" dirty="0">
                <a:latin typeface="Times New Roman" panose="02020603050405020304" pitchFamily="18" charset="0"/>
                <a:cs typeface="Times New Roman" panose="02020603050405020304" pitchFamily="18" charset="0"/>
              </a:rPr>
              <a:t>Aditya Raj</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2" name="object 2"/>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1048593" name="Title 1"/>
          <p:cNvSpPr txBox="1"/>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solidFill>
                  <a:srgbClr val="002060"/>
                </a:solidFill>
                <a:latin typeface="Times New Roman" panose="02020603050405020304" pitchFamily="18" charset="0"/>
                <a:cs typeface="Times New Roman" panose="02020603050405020304" pitchFamily="18" charset="0"/>
              </a:rPr>
              <a:t>ABSTRACT</a:t>
            </a:r>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368D1A8-A519-5053-F2C1-F5AFA988EC4C}"/>
              </a:ext>
            </a:extLst>
          </p:cNvPr>
          <p:cNvSpPr txBox="1"/>
          <p:nvPr/>
        </p:nvSpPr>
        <p:spPr>
          <a:xfrm>
            <a:off x="408317" y="1756824"/>
            <a:ext cx="11323608" cy="2638992"/>
          </a:xfrm>
          <a:prstGeom prst="rect">
            <a:avLst/>
          </a:prstGeom>
          <a:noFill/>
        </p:spPr>
        <p:txBody>
          <a:bodyPr wrap="square">
            <a:spAutoFit/>
          </a:bodyPr>
          <a:lstStyle/>
          <a:p>
            <a:pPr marL="18415" marR="5080" indent="-6350" algn="just">
              <a:lnSpc>
                <a:spcPct val="150000"/>
              </a:lnSpc>
              <a:spcBef>
                <a:spcPts val="600"/>
              </a:spcBef>
            </a:pPr>
            <a:r>
              <a:rPr lang="en-IN" sz="1400" dirty="0" err="1">
                <a:latin typeface="Times New Roman" panose="02020603050405020304" pitchFamily="18" charset="0"/>
                <a:cs typeface="Times New Roman" panose="02020603050405020304" pitchFamily="18" charset="0"/>
              </a:rPr>
              <a:t>CodeGalaxy</a:t>
            </a:r>
            <a:r>
              <a:rPr lang="en-IN" sz="1400" dirty="0">
                <a:latin typeface="Times New Roman" panose="02020603050405020304" pitchFamily="18" charset="0"/>
                <a:cs typeface="Times New Roman" panose="02020603050405020304" pitchFamily="18" charset="0"/>
              </a:rPr>
              <a:t> is an Agentic AI-powered interactive programming learning platform designed to help beginners understand programming concepts through visualization and intelligent guidance. Traditional learning methods often focus on syntax and output but fail to explain the internal execution of programs. </a:t>
            </a:r>
            <a:r>
              <a:rPr lang="en-IN" sz="1400" dirty="0" err="1">
                <a:latin typeface="Times New Roman" panose="02020603050405020304" pitchFamily="18" charset="0"/>
                <a:cs typeface="Times New Roman" panose="02020603050405020304" pitchFamily="18" charset="0"/>
              </a:rPr>
              <a:t>CodeGalaxy</a:t>
            </a:r>
            <a:r>
              <a:rPr lang="en-IN" sz="1400" dirty="0">
                <a:latin typeface="Times New Roman" panose="02020603050405020304" pitchFamily="18" charset="0"/>
                <a:cs typeface="Times New Roman" panose="02020603050405020304" pitchFamily="18" charset="0"/>
              </a:rPr>
              <a:t> allows users to write code in languages like Java, Python, and JavaScript, while AI agents </a:t>
            </a:r>
            <a:r>
              <a:rPr lang="en-IN" sz="1400" dirty="0" err="1">
                <a:latin typeface="Times New Roman" panose="02020603050405020304" pitchFamily="18" charset="0"/>
                <a:cs typeface="Times New Roman" panose="02020603050405020304" pitchFamily="18" charset="0"/>
              </a:rPr>
              <a:t>analyze</a:t>
            </a:r>
            <a:r>
              <a:rPr lang="en-IN" sz="1400" dirty="0">
                <a:latin typeface="Times New Roman" panose="02020603050405020304" pitchFamily="18" charset="0"/>
                <a:cs typeface="Times New Roman" panose="02020603050405020304" pitchFamily="18" charset="0"/>
              </a:rPr>
              <a:t>, explain, and visualize the complete program execution process. The platform uses multiple AI agents, including a Code Analysis Agent for detecting errors and suggesting improvements, a Visualization Agent for showing real-time execution steps, and a Learning Assistant Agent for providing personalized guidance. The Assessment Agent evaluates user skills and generates suitable coding challenges based on performance. By combining Agentic AI, real-time visualization, and gamification features such as levels, rewards, badges, and progress tracking, </a:t>
            </a:r>
            <a:r>
              <a:rPr lang="en-IN" sz="1400" dirty="0" err="1">
                <a:latin typeface="Times New Roman" panose="02020603050405020304" pitchFamily="18" charset="0"/>
                <a:cs typeface="Times New Roman" panose="02020603050405020304" pitchFamily="18" charset="0"/>
              </a:rPr>
              <a:t>CodeGalaxy</a:t>
            </a:r>
            <a:r>
              <a:rPr lang="en-IN" sz="1400" dirty="0">
                <a:latin typeface="Times New Roman" panose="02020603050405020304" pitchFamily="18" charset="0"/>
                <a:cs typeface="Times New Roman" panose="02020603050405020304" pitchFamily="18" charset="0"/>
              </a:rPr>
              <a:t> creates an engaging learning environment. It helps students build strong programming concepts, improve problem-solving skills, and learn coding through AI-driven assistance instead of only memorizing programs.</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Title 1"/>
          <p:cNvSpPr>
            <a:spLocks noGrp="1"/>
          </p:cNvSpPr>
          <p:nvPr>
            <p:ph type="title"/>
          </p:nvPr>
        </p:nvSpPr>
        <p:spPr>
          <a:xfrm>
            <a:off x="838200" y="365126"/>
            <a:ext cx="3181709" cy="652792"/>
          </a:xfrm>
        </p:spPr>
        <p:txBody>
          <a:bodyPr>
            <a:normAutofit/>
          </a:bodyPr>
          <a:lstStyle/>
          <a:p>
            <a:r>
              <a:rPr lang="en-IN" sz="3600" dirty="0">
                <a:solidFill>
                  <a:srgbClr val="002060"/>
                </a:solidFill>
                <a:latin typeface="Times New Roman" panose="02020603050405020304" pitchFamily="18" charset="0"/>
                <a:cs typeface="Times New Roman" panose="02020603050405020304" pitchFamily="18" charset="0"/>
              </a:rPr>
              <a:t>1</a:t>
            </a:r>
            <a:r>
              <a:rPr lang="en-IN" sz="3600" b="1" dirty="0">
                <a:solidFill>
                  <a:srgbClr val="002060"/>
                </a:solidFill>
                <a:latin typeface="Times New Roman" panose="02020603050405020304" pitchFamily="18" charset="0"/>
                <a:cs typeface="Times New Roman" panose="02020603050405020304" pitchFamily="18" charset="0"/>
              </a:rPr>
              <a:t>. </a:t>
            </a:r>
            <a:r>
              <a:rPr lang="en-IN" sz="3600" dirty="0">
                <a:solidFill>
                  <a:srgbClr val="002060"/>
                </a:solidFill>
                <a:latin typeface="Times New Roman" panose="02020603050405020304" pitchFamily="18" charset="0"/>
                <a:cs typeface="Times New Roman" panose="02020603050405020304" pitchFamily="18" charset="0"/>
              </a:rPr>
              <a:t>Introduction</a:t>
            </a:r>
            <a:endParaRPr lang="en-IN" sz="3600" dirty="0">
              <a:latin typeface="Times New Roman" panose="02020603050405020304" pitchFamily="18" charset="0"/>
              <a:cs typeface="Times New Roman" panose="02020603050405020304" pitchFamily="18" charset="0"/>
            </a:endParaRPr>
          </a:p>
        </p:txBody>
      </p:sp>
      <p:sp>
        <p:nvSpPr>
          <p:cNvPr id="1048595" name="Content Placeholder 2"/>
          <p:cNvSpPr>
            <a:spLocks noGrp="1"/>
          </p:cNvSpPr>
          <p:nvPr>
            <p:ph idx="1"/>
          </p:nvPr>
        </p:nvSpPr>
        <p:spPr>
          <a:xfrm>
            <a:off x="439733" y="1212769"/>
            <a:ext cx="11309230" cy="5179933"/>
          </a:xfrm>
        </p:spPr>
        <p:txBody>
          <a:bodyPr>
            <a:normAutofit/>
          </a:bodyPr>
          <a:lstStyle/>
          <a:p>
            <a:pPr marL="0" indent="0" algn="just">
              <a:buNone/>
            </a:pPr>
            <a:r>
              <a:rPr lang="en-IN" sz="1600" b="1" dirty="0">
                <a:solidFill>
                  <a:srgbClr val="002060"/>
                </a:solidFill>
                <a:latin typeface="Times New Roman" panose="02020603050405020304" pitchFamily="18" charset="0"/>
                <a:cs typeface="Times New Roman" panose="02020603050405020304" pitchFamily="18" charset="0"/>
              </a:rPr>
              <a:t>1.1 Problem Definition</a:t>
            </a:r>
          </a:p>
          <a:p>
            <a:pPr marL="0" indent="0" algn="just">
              <a:lnSpc>
                <a:spcPct val="100000"/>
              </a:lnSpc>
              <a:buNone/>
            </a:pPr>
            <a:r>
              <a:rPr lang="en-IN" sz="1400" dirty="0">
                <a:latin typeface="Times New Roman" panose="02020603050405020304" pitchFamily="18" charset="0"/>
                <a:cs typeface="Times New Roman" panose="02020603050405020304" pitchFamily="18" charset="0"/>
              </a:rPr>
              <a:t>Many beginners face difficulties in understanding programming concepts because traditional learning methods mainly focus on syntax and output rather than explaining the internal working of programs. Complex topics such as loops, recursion, algorithms, data structures, and memory management are difficult to learn without proper visualization of program execution. Existing coding platforms provide limited support by only showing errors or final outputs, making it challenging for students to identify logical mistakes and understand the flow of code. Additionally, traditional learning approaches do not provide personalized guidance based on individual performance, which reduces learning effectiveness and motivation. Therefore, there is a need for an Agentic AI-based programming platform that can </a:t>
            </a:r>
            <a:r>
              <a:rPr lang="en-IN" sz="1400" dirty="0" err="1">
                <a:latin typeface="Times New Roman" panose="02020603050405020304" pitchFamily="18" charset="0"/>
                <a:cs typeface="Times New Roman" panose="02020603050405020304" pitchFamily="18" charset="0"/>
              </a:rPr>
              <a:t>analyze</a:t>
            </a:r>
            <a:r>
              <a:rPr lang="en-IN" sz="1400" dirty="0">
                <a:latin typeface="Times New Roman" panose="02020603050405020304" pitchFamily="18" charset="0"/>
                <a:cs typeface="Times New Roman" panose="02020603050405020304" pitchFamily="18" charset="0"/>
              </a:rPr>
              <a:t> user code, explain execution steps, visualize programming concepts in real time, provide intelligent feedback, generate personalized challenges, and create an engaging learning environment through gamification. </a:t>
            </a:r>
            <a:r>
              <a:rPr lang="en-IN" sz="1400" dirty="0" err="1">
                <a:latin typeface="Times New Roman" panose="02020603050405020304" pitchFamily="18" charset="0"/>
                <a:cs typeface="Times New Roman" panose="02020603050405020304" pitchFamily="18" charset="0"/>
              </a:rPr>
              <a:t>CodeGalaxy</a:t>
            </a:r>
            <a:r>
              <a:rPr lang="en-IN" sz="1400" dirty="0">
                <a:latin typeface="Times New Roman" panose="02020603050405020304" pitchFamily="18" charset="0"/>
                <a:cs typeface="Times New Roman" panose="02020603050405020304" pitchFamily="18" charset="0"/>
              </a:rPr>
              <a:t> aims to solve these problems by combining AI-driven assistance, visualization, and interactive learning to help beginners develop strong programming skills and conceptual understanding. </a:t>
            </a:r>
          </a:p>
          <a:p>
            <a:pPr marL="0" indent="0" algn="just">
              <a:buNone/>
            </a:pPr>
            <a:endParaRPr lang="en-IN" sz="1400" b="1" dirty="0">
              <a:solidFill>
                <a:srgbClr val="002060"/>
              </a:solidFill>
              <a:latin typeface="Times New Roman" panose="02020603050405020304" pitchFamily="18" charset="0"/>
              <a:cs typeface="Times New Roman" panose="02020603050405020304" pitchFamily="18" charset="0"/>
            </a:endParaRPr>
          </a:p>
          <a:p>
            <a:pPr algn="just"/>
            <a:r>
              <a:rPr lang="en-IN" sz="1600" b="1" dirty="0">
                <a:solidFill>
                  <a:srgbClr val="002060"/>
                </a:solidFill>
                <a:latin typeface="Times New Roman" panose="02020603050405020304" pitchFamily="18" charset="0"/>
                <a:cs typeface="Times New Roman" panose="02020603050405020304" pitchFamily="18" charset="0"/>
              </a:rPr>
              <a:t>Description</a:t>
            </a:r>
          </a:p>
          <a:p>
            <a:pPr marL="0" indent="0" algn="just">
              <a:lnSpc>
                <a:spcPct val="100000"/>
              </a:lnSpc>
              <a:buNone/>
            </a:pPr>
            <a:r>
              <a:rPr lang="en-IN" sz="1400" dirty="0">
                <a:latin typeface="Times New Roman" panose="02020603050405020304" pitchFamily="18" charset="0"/>
                <a:cs typeface="Times New Roman" panose="02020603050405020304" pitchFamily="18" charset="0"/>
              </a:rPr>
              <a:t>Code Galaxy is an Agentic AI-powered interactive programming learning platform designed to make computer science education more engaging, practical, and concept-oriented. Unlike traditional learning methods that focus primarily on syntax memorization, Code Galaxy emphasizes execution-first learning by enabling students to visualize how programs execute in real time. Through a cloud-based IDE with secure sandboxed code execution, the platform dynamically displays memory allocation, variable changes, call stack operations, and program flow, helping learners develop a strong understanding of the internal </a:t>
            </a:r>
            <a:r>
              <a:rPr lang="en-IN" sz="1400" dirty="0" err="1">
                <a:latin typeface="Times New Roman" panose="02020603050405020304" pitchFamily="18" charset="0"/>
                <a:cs typeface="Times New Roman" panose="02020603050405020304" pitchFamily="18" charset="0"/>
              </a:rPr>
              <a:t>behavior</a:t>
            </a:r>
            <a:r>
              <a:rPr lang="en-IN" sz="1400" dirty="0">
                <a:latin typeface="Times New Roman" panose="02020603050405020304" pitchFamily="18" charset="0"/>
                <a:cs typeface="Times New Roman" panose="02020603050405020304" pitchFamily="18" charset="0"/>
              </a:rPr>
              <a:t> of code. It also integrates intelligent AI agents that </a:t>
            </a:r>
            <a:r>
              <a:rPr lang="en-IN" sz="1400" dirty="0" err="1">
                <a:latin typeface="Times New Roman" panose="02020603050405020304" pitchFamily="18" charset="0"/>
                <a:cs typeface="Times New Roman" panose="02020603050405020304" pitchFamily="18" charset="0"/>
              </a:rPr>
              <a:t>analyze</a:t>
            </a:r>
            <a:r>
              <a:rPr lang="en-IN" sz="1400" dirty="0">
                <a:latin typeface="Times New Roman" panose="02020603050405020304" pitchFamily="18" charset="0"/>
                <a:cs typeface="Times New Roman" panose="02020603050405020304" pitchFamily="18" charset="0"/>
              </a:rPr>
              <a:t> code, provide contextual hints, identify logical errors without revealing complete solutions, and generate personalized learning challenges based on individual progress. Supporting multiple programming languages such as Java, Python, and JavaScript, Code Galaxy combines interactive visualizations, real-time execution, gamification, and skill analytics to create an immersive learning experience that enhances problem-solving abilities, improves programming confidence, and builds a solid foundation in software development.</a:t>
            </a:r>
          </a:p>
        </p:txBody>
      </p:sp>
      <p:sp>
        <p:nvSpPr>
          <p:cNvPr id="1048596" name="object 2"/>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422C-BAE7-EA41-A688-09D5138E82E0}"/>
              </a:ext>
            </a:extLst>
          </p:cNvPr>
          <p:cNvSpPr>
            <a:spLocks noGrp="1"/>
          </p:cNvSpPr>
          <p:nvPr>
            <p:ph type="title"/>
          </p:nvPr>
        </p:nvSpPr>
        <p:spPr>
          <a:xfrm>
            <a:off x="838200" y="365125"/>
            <a:ext cx="3440502" cy="518795"/>
          </a:xfrm>
        </p:spPr>
        <p:txBody>
          <a:bodyPr>
            <a:noAutofit/>
          </a:bodyPr>
          <a:lstStyle/>
          <a:p>
            <a:r>
              <a:rPr lang="en-IN" sz="3600" dirty="0">
                <a:solidFill>
                  <a:srgbClr val="002060"/>
                </a:solidFill>
                <a:latin typeface="Times New Roman" panose="02020603050405020304" pitchFamily="18" charset="0"/>
                <a:cs typeface="Times New Roman" panose="02020603050405020304" pitchFamily="18" charset="0"/>
              </a:rPr>
              <a:t>1</a:t>
            </a:r>
            <a:r>
              <a:rPr lang="en-IN" sz="3600" b="1" dirty="0">
                <a:solidFill>
                  <a:srgbClr val="002060"/>
                </a:solidFill>
                <a:latin typeface="Times New Roman" panose="02020603050405020304" pitchFamily="18" charset="0"/>
                <a:cs typeface="Times New Roman" panose="02020603050405020304" pitchFamily="18" charset="0"/>
              </a:rPr>
              <a:t>. </a:t>
            </a:r>
            <a:r>
              <a:rPr lang="en-IN" sz="3600" dirty="0">
                <a:solidFill>
                  <a:srgbClr val="002060"/>
                </a:solidFill>
                <a:latin typeface="Times New Roman" panose="02020603050405020304" pitchFamily="18" charset="0"/>
                <a:cs typeface="Times New Roman" panose="02020603050405020304" pitchFamily="18" charset="0"/>
              </a:rPr>
              <a:t>Introduction</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5AEC0F1-9C19-B677-F392-2831CD230FC5}"/>
              </a:ext>
            </a:extLst>
          </p:cNvPr>
          <p:cNvSpPr>
            <a:spLocks noGrp="1"/>
          </p:cNvSpPr>
          <p:nvPr>
            <p:ph idx="1"/>
          </p:nvPr>
        </p:nvSpPr>
        <p:spPr>
          <a:xfrm>
            <a:off x="392288" y="1006664"/>
            <a:ext cx="11404120" cy="5082111"/>
          </a:xfrm>
        </p:spPr>
        <p:txBody>
          <a:bodyPr>
            <a:noAutofit/>
          </a:bodyPr>
          <a:lstStyle/>
          <a:p>
            <a:pPr marL="0" indent="0" algn="just">
              <a:buNone/>
            </a:pPr>
            <a:r>
              <a:rPr lang="en-IN" sz="1600" b="1" dirty="0">
                <a:solidFill>
                  <a:srgbClr val="002060"/>
                </a:solidFill>
                <a:latin typeface="Times New Roman" panose="02020603050405020304" pitchFamily="18" charset="0"/>
                <a:cs typeface="Times New Roman" panose="02020603050405020304" pitchFamily="18" charset="0"/>
              </a:rPr>
              <a:t>1.2 Objectives of the Project</a:t>
            </a:r>
          </a:p>
          <a:p>
            <a:pPr marL="0" indent="0" algn="just">
              <a:buNone/>
            </a:pPr>
            <a:endParaRPr lang="en-IN" sz="1600" b="1" dirty="0">
              <a:solidFill>
                <a:srgbClr val="002060"/>
              </a:solidFill>
              <a:latin typeface="Times New Roman" panose="02020603050405020304" pitchFamily="18" charset="0"/>
              <a:cs typeface="Times New Roman" panose="02020603050405020304" pitchFamily="18" charset="0"/>
            </a:endParaRPr>
          </a:p>
          <a:p>
            <a:pPr algn="just"/>
            <a:r>
              <a:rPr lang="en-IN" sz="1400" dirty="0">
                <a:latin typeface="Times New Roman" panose="02020603050405020304" pitchFamily="18" charset="0"/>
                <a:cs typeface="Times New Roman" panose="02020603050405020304" pitchFamily="18" charset="0"/>
              </a:rPr>
              <a:t>Develop an Agentic AI-powered interactive programming learning platform.</a:t>
            </a:r>
          </a:p>
          <a:p>
            <a:pPr algn="just"/>
            <a:r>
              <a:rPr lang="en-IN" sz="1400" dirty="0">
                <a:latin typeface="Times New Roman" panose="02020603050405020304" pitchFamily="18" charset="0"/>
                <a:cs typeface="Times New Roman" panose="02020603050405020304" pitchFamily="18" charset="0"/>
              </a:rPr>
              <a:t>Enable execution-first learning through real-time code execution visualization.</a:t>
            </a:r>
          </a:p>
          <a:p>
            <a:pPr algn="just"/>
            <a:r>
              <a:rPr lang="en-IN" sz="1400" dirty="0">
                <a:latin typeface="Times New Roman" panose="02020603050405020304" pitchFamily="18" charset="0"/>
                <a:cs typeface="Times New Roman" panose="02020603050405020304" pitchFamily="18" charset="0"/>
              </a:rPr>
              <a:t>Visualize memory allocation, call stack, variables, and program flow for better conceptual understanding.</a:t>
            </a:r>
          </a:p>
          <a:p>
            <a:pPr algn="just"/>
            <a:r>
              <a:rPr lang="en-IN" sz="1400" dirty="0">
                <a:latin typeface="Times New Roman" panose="02020603050405020304" pitchFamily="18" charset="0"/>
                <a:cs typeface="Times New Roman" panose="02020603050405020304" pitchFamily="18" charset="0"/>
              </a:rPr>
              <a:t>Provide AI-powered code analysis and contextual hints without revealing complete solutions.</a:t>
            </a:r>
          </a:p>
          <a:p>
            <a:pPr algn="just"/>
            <a:r>
              <a:rPr lang="en-IN" sz="1400" dirty="0">
                <a:latin typeface="Times New Roman" panose="02020603050405020304" pitchFamily="18" charset="0"/>
                <a:cs typeface="Times New Roman" panose="02020603050405020304" pitchFamily="18" charset="0"/>
              </a:rPr>
              <a:t>Support multiple programming languages such as Java, Python, and JavaScript.</a:t>
            </a:r>
          </a:p>
          <a:p>
            <a:pPr algn="just"/>
            <a:r>
              <a:rPr lang="en-IN" sz="1400" dirty="0">
                <a:latin typeface="Times New Roman" panose="02020603050405020304" pitchFamily="18" charset="0"/>
                <a:cs typeface="Times New Roman" panose="02020603050405020304" pitchFamily="18" charset="0"/>
              </a:rPr>
              <a:t>Ensure secure cloud-based code execution using sandboxed environments.</a:t>
            </a:r>
          </a:p>
          <a:p>
            <a:pPr algn="just"/>
            <a:r>
              <a:rPr lang="en-IN" sz="1400" dirty="0">
                <a:latin typeface="Times New Roman" panose="02020603050405020304" pitchFamily="18" charset="0"/>
                <a:cs typeface="Times New Roman" panose="02020603050405020304" pitchFamily="18" charset="0"/>
              </a:rPr>
              <a:t>Enhance debugging, logical thinking, and problem-solving skills.</a:t>
            </a:r>
          </a:p>
          <a:p>
            <a:pPr algn="just"/>
            <a:r>
              <a:rPr lang="en-IN" sz="1400" dirty="0">
                <a:latin typeface="Times New Roman" panose="02020603050405020304" pitchFamily="18" charset="0"/>
                <a:cs typeface="Times New Roman" panose="02020603050405020304" pitchFamily="18" charset="0"/>
              </a:rPr>
              <a:t>Offer personalized learning paths through performance analytics and adaptive assessments.</a:t>
            </a:r>
          </a:p>
          <a:p>
            <a:pPr algn="just"/>
            <a:r>
              <a:rPr lang="en-IN" sz="1400" dirty="0">
                <a:latin typeface="Times New Roman" panose="02020603050405020304" pitchFamily="18" charset="0"/>
                <a:cs typeface="Times New Roman" panose="02020603050405020304" pitchFamily="18" charset="0"/>
              </a:rPr>
              <a:t>Increase engagement using gamification, coding challenges, and skill progression.</a:t>
            </a:r>
          </a:p>
          <a:p>
            <a:pPr algn="just"/>
            <a:r>
              <a:rPr lang="en-IN" sz="1400" dirty="0">
                <a:latin typeface="Times New Roman" panose="02020603050405020304" pitchFamily="18" charset="0"/>
                <a:cs typeface="Times New Roman" panose="02020603050405020304" pitchFamily="18" charset="0"/>
              </a:rPr>
              <a:t>Build strong programming fundamentals and prepare students for real-world software development.</a:t>
            </a:r>
            <a:endParaRPr lang="en-IN" sz="1400" dirty="0">
              <a:solidFill>
                <a:srgbClr val="002060"/>
              </a:solidFill>
              <a:latin typeface="Times New Roman" panose="02020603050405020304" pitchFamily="18" charset="0"/>
              <a:cs typeface="Times New Roman" panose="02020603050405020304" pitchFamily="18" charset="0"/>
            </a:endParaRPr>
          </a:p>
        </p:txBody>
      </p:sp>
      <p:sp>
        <p:nvSpPr>
          <p:cNvPr id="4" name="object 2">
            <a:extLst>
              <a:ext uri="{FF2B5EF4-FFF2-40B4-BE49-F238E27FC236}">
                <a16:creationId xmlns:a16="http://schemas.microsoft.com/office/drawing/2014/main" id="{0AB861B2-4A8C-4EA5-1602-C0B4234D67CF}"/>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Tree>
    <p:extLst>
      <p:ext uri="{BB962C8B-B14F-4D97-AF65-F5344CB8AC3E}">
        <p14:creationId xmlns:p14="http://schemas.microsoft.com/office/powerpoint/2010/main" val="20243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Title 1"/>
          <p:cNvSpPr>
            <a:spLocks noGrp="1"/>
          </p:cNvSpPr>
          <p:nvPr>
            <p:ph type="title"/>
          </p:nvPr>
        </p:nvSpPr>
        <p:spPr>
          <a:xfrm>
            <a:off x="836548" y="298865"/>
            <a:ext cx="10515600" cy="496265"/>
          </a:xfrm>
        </p:spPr>
        <p:txBody>
          <a:bodyPr>
            <a:normAutofit fontScale="90000"/>
          </a:bodyPr>
          <a:lstStyle/>
          <a:p>
            <a:pPr>
              <a:lnSpc>
                <a:spcPct val="100000"/>
              </a:lnSpc>
            </a:pPr>
            <a:r>
              <a:rPr lang="en-IN" dirty="0">
                <a:solidFill>
                  <a:srgbClr val="002060"/>
                </a:solidFill>
              </a:rPr>
              <a:t>2. System</a:t>
            </a:r>
            <a:r>
              <a:rPr lang="en-IN" b="1" dirty="0">
                <a:solidFill>
                  <a:srgbClr val="002060"/>
                </a:solidFill>
              </a:rPr>
              <a:t> </a:t>
            </a:r>
            <a:r>
              <a:rPr lang="en-IN" dirty="0">
                <a:solidFill>
                  <a:srgbClr val="002060"/>
                </a:solidFill>
              </a:rPr>
              <a:t>Analysis</a:t>
            </a:r>
            <a:endParaRPr lang="en-IN" dirty="0"/>
          </a:p>
        </p:txBody>
      </p:sp>
      <p:sp>
        <p:nvSpPr>
          <p:cNvPr id="1048601" name="Content Placeholder 2"/>
          <p:cNvSpPr>
            <a:spLocks noGrp="1"/>
          </p:cNvSpPr>
          <p:nvPr>
            <p:ph idx="1"/>
          </p:nvPr>
        </p:nvSpPr>
        <p:spPr>
          <a:xfrm>
            <a:off x="251791" y="945770"/>
            <a:ext cx="11529392" cy="5592418"/>
          </a:xfrm>
        </p:spPr>
        <p:txBody>
          <a:bodyPr>
            <a:normAutofit/>
          </a:bodyPr>
          <a:lstStyle/>
          <a:p>
            <a:pPr marL="457200" lvl="1" indent="0" algn="just">
              <a:buNone/>
            </a:pPr>
            <a:r>
              <a:rPr lang="en-IN" sz="1600" b="1" dirty="0">
                <a:solidFill>
                  <a:srgbClr val="002060"/>
                </a:solidFill>
                <a:latin typeface="Times New Roman" panose="02020603050405020304" pitchFamily="18" charset="0"/>
                <a:cs typeface="Times New Roman" panose="02020603050405020304" pitchFamily="18" charset="0"/>
              </a:rPr>
              <a:t>2.1 Existing System</a:t>
            </a:r>
          </a:p>
          <a:p>
            <a:pPr marL="457200" lvl="1" indent="0" algn="just">
              <a:buNone/>
            </a:pPr>
            <a:endParaRPr lang="en-IN" sz="1600" b="1" dirty="0">
              <a:solidFill>
                <a:srgbClr val="002060"/>
              </a:solidFill>
              <a:latin typeface="Times New Roman" panose="02020603050405020304" pitchFamily="18" charset="0"/>
              <a:cs typeface="Times New Roman" panose="02020603050405020304" pitchFamily="18" charset="0"/>
            </a:endParaRPr>
          </a:p>
          <a:p>
            <a:pPr lvl="2" algn="just"/>
            <a:r>
              <a:rPr lang="en-IN" sz="1600" b="1" dirty="0">
                <a:solidFill>
                  <a:srgbClr val="002060"/>
                </a:solidFill>
                <a:latin typeface="Times New Roman" panose="02020603050405020304" pitchFamily="18" charset="0"/>
                <a:cs typeface="Times New Roman" panose="02020603050405020304" pitchFamily="18" charset="0"/>
              </a:rPr>
              <a:t>Background &amp; Literature Survey</a:t>
            </a:r>
          </a:p>
          <a:p>
            <a:pPr lvl="3" algn="just">
              <a:lnSpc>
                <a:spcPct val="100000"/>
              </a:lnSpc>
            </a:pPr>
            <a:r>
              <a:rPr lang="en-IN" sz="1400" dirty="0">
                <a:latin typeface="Times New Roman" panose="02020603050405020304" pitchFamily="18" charset="0"/>
                <a:cs typeface="Times New Roman" panose="02020603050405020304" pitchFamily="18" charset="0"/>
              </a:rPr>
              <a:t>Traditional programming platforms mainly focus on syntax and theory rather than program execution.</a:t>
            </a:r>
          </a:p>
          <a:p>
            <a:pPr lvl="3" algn="just">
              <a:lnSpc>
                <a:spcPct val="100000"/>
              </a:lnSpc>
            </a:pPr>
            <a:r>
              <a:rPr lang="en-IN" sz="1400" dirty="0">
                <a:latin typeface="Times New Roman" panose="02020603050405020304" pitchFamily="18" charset="0"/>
                <a:cs typeface="Times New Roman" panose="02020603050405020304" pitchFamily="18" charset="0"/>
              </a:rPr>
              <a:t>Most coding platforms provide code execution but lack visualization of memory, variables, and call stacks.</a:t>
            </a:r>
          </a:p>
          <a:p>
            <a:pPr lvl="3" algn="just">
              <a:lnSpc>
                <a:spcPct val="100000"/>
              </a:lnSpc>
            </a:pPr>
            <a:r>
              <a:rPr lang="en-IN" sz="1400" dirty="0">
                <a:latin typeface="Times New Roman" panose="02020603050405020304" pitchFamily="18" charset="0"/>
                <a:cs typeface="Times New Roman" panose="02020603050405020304" pitchFamily="18" charset="0"/>
              </a:rPr>
              <a:t>Beginners often struggle with debugging and understanding runtime </a:t>
            </a:r>
            <a:r>
              <a:rPr lang="en-IN" sz="1400" dirty="0" err="1">
                <a:latin typeface="Times New Roman" panose="02020603050405020304" pitchFamily="18" charset="0"/>
                <a:cs typeface="Times New Roman" panose="02020603050405020304" pitchFamily="18" charset="0"/>
              </a:rPr>
              <a:t>behavior</a:t>
            </a:r>
            <a:r>
              <a:rPr lang="en-IN" sz="1400" dirty="0">
                <a:latin typeface="Times New Roman" panose="02020603050405020304" pitchFamily="18" charset="0"/>
                <a:cs typeface="Times New Roman" panose="02020603050405020304" pitchFamily="18" charset="0"/>
              </a:rPr>
              <a:t>.</a:t>
            </a:r>
          </a:p>
          <a:p>
            <a:pPr lvl="3" algn="just">
              <a:lnSpc>
                <a:spcPct val="100000"/>
              </a:lnSpc>
            </a:pPr>
            <a:r>
              <a:rPr lang="en-IN" sz="1400" dirty="0">
                <a:latin typeface="Times New Roman" panose="02020603050405020304" pitchFamily="18" charset="0"/>
                <a:cs typeface="Times New Roman" panose="02020603050405020304" pitchFamily="18" charset="0"/>
              </a:rPr>
              <a:t>AI coding tools mostly generate code instead of improving conceptual learning.</a:t>
            </a:r>
          </a:p>
          <a:p>
            <a:pPr lvl="3" algn="just">
              <a:lnSpc>
                <a:spcPct val="100000"/>
              </a:lnSpc>
            </a:pPr>
            <a:r>
              <a:rPr lang="en-IN" sz="1400" dirty="0">
                <a:latin typeface="Times New Roman" panose="02020603050405020304" pitchFamily="18" charset="0"/>
                <a:cs typeface="Times New Roman" panose="02020603050405020304" pitchFamily="18" charset="0"/>
              </a:rPr>
              <a:t>Existing systems offer limited personalization and interactive learning, creating a need for an AI-powered execution-based learning platform.</a:t>
            </a:r>
          </a:p>
          <a:p>
            <a:pPr lvl="3" algn="just"/>
            <a:endParaRPr lang="en-IN" sz="1400" b="1" dirty="0">
              <a:solidFill>
                <a:srgbClr val="002060"/>
              </a:solidFill>
              <a:latin typeface="Times New Roman" panose="02020603050405020304" pitchFamily="18" charset="0"/>
              <a:cs typeface="Times New Roman" panose="02020603050405020304" pitchFamily="18" charset="0"/>
            </a:endParaRPr>
          </a:p>
          <a:p>
            <a:pPr lvl="3" algn="just"/>
            <a:endParaRPr lang="en-IN" sz="1400" b="1" dirty="0">
              <a:solidFill>
                <a:srgbClr val="002060"/>
              </a:solidFill>
              <a:latin typeface="Times New Roman" panose="02020603050405020304" pitchFamily="18" charset="0"/>
              <a:cs typeface="Times New Roman" panose="02020603050405020304" pitchFamily="18" charset="0"/>
            </a:endParaRPr>
          </a:p>
          <a:p>
            <a:pPr lvl="2" algn="just"/>
            <a:r>
              <a:rPr lang="en-IN" sz="1600" b="1" dirty="0">
                <a:solidFill>
                  <a:srgbClr val="002060"/>
                </a:solidFill>
                <a:latin typeface="Times New Roman" panose="02020603050405020304" pitchFamily="18" charset="0"/>
                <a:cs typeface="Times New Roman" panose="02020603050405020304" pitchFamily="18" charset="0"/>
              </a:rPr>
              <a:t>Limitations of Existing System</a:t>
            </a:r>
          </a:p>
          <a:p>
            <a:pPr lvl="3" algn="just">
              <a:lnSpc>
                <a:spcPct val="100000"/>
              </a:lnSpc>
            </a:pPr>
            <a:r>
              <a:rPr lang="en-IN" sz="1400" dirty="0">
                <a:latin typeface="Times New Roman" panose="02020603050405020304" pitchFamily="18" charset="0"/>
                <a:cs typeface="Times New Roman" panose="02020603050405020304" pitchFamily="18" charset="0"/>
              </a:rPr>
              <a:t>Focus mainly on syntax memorization rather than conceptual understanding.</a:t>
            </a:r>
          </a:p>
          <a:p>
            <a:pPr lvl="3" algn="just">
              <a:lnSpc>
                <a:spcPct val="100000"/>
              </a:lnSpc>
            </a:pPr>
            <a:r>
              <a:rPr lang="en-IN" sz="1400" dirty="0">
                <a:latin typeface="Times New Roman" panose="02020603050405020304" pitchFamily="18" charset="0"/>
                <a:cs typeface="Times New Roman" panose="02020603050405020304" pitchFamily="18" charset="0"/>
              </a:rPr>
              <a:t>Lack real-time visualization of program execution, memory, and call stacks.</a:t>
            </a:r>
          </a:p>
          <a:p>
            <a:pPr lvl="3" algn="just">
              <a:lnSpc>
                <a:spcPct val="100000"/>
              </a:lnSpc>
            </a:pPr>
            <a:r>
              <a:rPr lang="en-IN" sz="1400" dirty="0">
                <a:latin typeface="Times New Roman" panose="02020603050405020304" pitchFamily="18" charset="0"/>
                <a:cs typeface="Times New Roman" panose="02020603050405020304" pitchFamily="18" charset="0"/>
              </a:rPr>
              <a:t>Provide limited personalized guidance for learners.</a:t>
            </a:r>
          </a:p>
          <a:p>
            <a:pPr lvl="3" algn="just">
              <a:lnSpc>
                <a:spcPct val="100000"/>
              </a:lnSpc>
            </a:pPr>
            <a:r>
              <a:rPr lang="en-IN" sz="1400" dirty="0">
                <a:latin typeface="Times New Roman" panose="02020603050405020304" pitchFamily="18" charset="0"/>
                <a:cs typeface="Times New Roman" panose="02020603050405020304" pitchFamily="18" charset="0"/>
              </a:rPr>
              <a:t>AI tools often give direct solutions, reducing independent problem-solving.</a:t>
            </a:r>
          </a:p>
          <a:p>
            <a:pPr lvl="3" algn="just">
              <a:lnSpc>
                <a:spcPct val="100000"/>
              </a:lnSpc>
            </a:pPr>
            <a:r>
              <a:rPr lang="en-IN" sz="1400" dirty="0">
                <a:latin typeface="Times New Roman" panose="02020603050405020304" pitchFamily="18" charset="0"/>
                <a:cs typeface="Times New Roman" panose="02020603050405020304" pitchFamily="18" charset="0"/>
              </a:rPr>
              <a:t>Offer low engagement with minimal interactive and gamified learning features.</a:t>
            </a:r>
            <a:endParaRPr lang="en-US" sz="1400" b="1" dirty="0">
              <a:solidFill>
                <a:srgbClr val="002060"/>
              </a:solidFill>
              <a:latin typeface="Times New Roman" panose="02020603050405020304" pitchFamily="18" charset="0"/>
              <a:cs typeface="Times New Roman" panose="02020603050405020304" pitchFamily="18" charset="0"/>
            </a:endParaRPr>
          </a:p>
        </p:txBody>
      </p:sp>
      <p:sp>
        <p:nvSpPr>
          <p:cNvPr id="1048602" name="object 2"/>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Title 1"/>
          <p:cNvSpPr>
            <a:spLocks noGrp="1"/>
          </p:cNvSpPr>
          <p:nvPr>
            <p:ph type="title"/>
          </p:nvPr>
        </p:nvSpPr>
        <p:spPr>
          <a:xfrm>
            <a:off x="836548" y="298865"/>
            <a:ext cx="10515600" cy="496265"/>
          </a:xfrm>
        </p:spPr>
        <p:txBody>
          <a:bodyPr>
            <a:normAutofit fontScale="90000"/>
          </a:bodyPr>
          <a:lstStyle/>
          <a:p>
            <a:r>
              <a:rPr lang="en-IN" dirty="0">
                <a:solidFill>
                  <a:srgbClr val="002060"/>
                </a:solidFill>
              </a:rPr>
              <a:t>2. System</a:t>
            </a:r>
            <a:r>
              <a:rPr lang="en-IN" b="1" dirty="0">
                <a:solidFill>
                  <a:srgbClr val="002060"/>
                </a:solidFill>
              </a:rPr>
              <a:t> </a:t>
            </a:r>
            <a:r>
              <a:rPr lang="en-IN" dirty="0">
                <a:solidFill>
                  <a:srgbClr val="002060"/>
                </a:solidFill>
              </a:rPr>
              <a:t>Analysis</a:t>
            </a:r>
            <a:endParaRPr lang="en-IN" dirty="0"/>
          </a:p>
        </p:txBody>
      </p:sp>
      <p:sp>
        <p:nvSpPr>
          <p:cNvPr id="1048601" name="Content Placeholder 2"/>
          <p:cNvSpPr>
            <a:spLocks noGrp="1"/>
          </p:cNvSpPr>
          <p:nvPr>
            <p:ph idx="1"/>
          </p:nvPr>
        </p:nvSpPr>
        <p:spPr>
          <a:xfrm>
            <a:off x="329652" y="1052106"/>
            <a:ext cx="11529392" cy="5592418"/>
          </a:xfrm>
        </p:spPr>
        <p:txBody>
          <a:bodyPr>
            <a:normAutofit/>
          </a:bodyPr>
          <a:lstStyle/>
          <a:p>
            <a:pPr algn="just"/>
            <a:endParaRPr lang="en-IN" sz="1400" dirty="0">
              <a:latin typeface="Times New Roman" panose="02020603050405020304" pitchFamily="18" charset="0"/>
              <a:cs typeface="Times New Roman" panose="02020603050405020304" pitchFamily="18" charset="0"/>
            </a:endParaRPr>
          </a:p>
          <a:p>
            <a:pPr marL="457200" lvl="1" indent="0" algn="just">
              <a:buNone/>
            </a:pPr>
            <a:r>
              <a:rPr lang="en-IN" sz="1600" b="1" dirty="0">
                <a:solidFill>
                  <a:srgbClr val="002060"/>
                </a:solidFill>
                <a:latin typeface="Times New Roman" panose="02020603050405020304" pitchFamily="18" charset="0"/>
                <a:cs typeface="Times New Roman" panose="02020603050405020304" pitchFamily="18" charset="0"/>
              </a:rPr>
              <a:t>2.2 Proposed System</a:t>
            </a:r>
          </a:p>
          <a:p>
            <a:pPr lvl="2" algn="just"/>
            <a:r>
              <a:rPr lang="en-US" sz="1600" b="1" dirty="0">
                <a:solidFill>
                  <a:srgbClr val="002060"/>
                </a:solidFill>
                <a:latin typeface="Times New Roman" panose="02020603050405020304" pitchFamily="18" charset="0"/>
                <a:cs typeface="Times New Roman" panose="02020603050405020304" pitchFamily="18" charset="0"/>
              </a:rPr>
              <a:t>A</a:t>
            </a:r>
            <a:r>
              <a:rPr lang="en-IN" sz="1600" b="1" dirty="0">
                <a:solidFill>
                  <a:srgbClr val="002060"/>
                </a:solidFill>
                <a:latin typeface="Times New Roman" panose="02020603050405020304" pitchFamily="18" charset="0"/>
                <a:cs typeface="Times New Roman" panose="02020603050405020304" pitchFamily="18" charset="0"/>
              </a:rPr>
              <a:t>dvantages of Proposed System</a:t>
            </a:r>
          </a:p>
          <a:p>
            <a:pPr lvl="3" algn="just">
              <a:lnSpc>
                <a:spcPct val="100000"/>
              </a:lnSpc>
            </a:pPr>
            <a:r>
              <a:rPr lang="en-IN" sz="1400" dirty="0">
                <a:latin typeface="Times New Roman" panose="02020603050405020304" pitchFamily="18" charset="0"/>
                <a:cs typeface="Times New Roman" panose="02020603050405020304" pitchFamily="18" charset="0"/>
              </a:rPr>
              <a:t>Provides real-time code execution visualization for better understanding of program </a:t>
            </a:r>
            <a:r>
              <a:rPr lang="en-IN" sz="1400" dirty="0" err="1">
                <a:latin typeface="Times New Roman" panose="02020603050405020304" pitchFamily="18" charset="0"/>
                <a:cs typeface="Times New Roman" panose="02020603050405020304" pitchFamily="18" charset="0"/>
              </a:rPr>
              <a:t>behavior</a:t>
            </a:r>
            <a:r>
              <a:rPr lang="en-IN" sz="1400" dirty="0">
                <a:latin typeface="Times New Roman" panose="02020603050405020304" pitchFamily="18" charset="0"/>
                <a:cs typeface="Times New Roman" panose="02020603050405020304" pitchFamily="18" charset="0"/>
              </a:rPr>
              <a:t>.</a:t>
            </a:r>
          </a:p>
          <a:p>
            <a:pPr lvl="3" algn="just">
              <a:lnSpc>
                <a:spcPct val="100000"/>
              </a:lnSpc>
            </a:pPr>
            <a:r>
              <a:rPr lang="en-IN" sz="1400" dirty="0">
                <a:latin typeface="Times New Roman" panose="02020603050405020304" pitchFamily="18" charset="0"/>
                <a:cs typeface="Times New Roman" panose="02020603050405020304" pitchFamily="18" charset="0"/>
              </a:rPr>
              <a:t>Offers AI-based personalized guidance and intelligent error detection.</a:t>
            </a:r>
          </a:p>
          <a:p>
            <a:pPr lvl="3" algn="just">
              <a:lnSpc>
                <a:spcPct val="100000"/>
              </a:lnSpc>
            </a:pPr>
            <a:r>
              <a:rPr lang="en-IN" sz="1400" dirty="0">
                <a:latin typeface="Times New Roman" panose="02020603050405020304" pitchFamily="18" charset="0"/>
                <a:cs typeface="Times New Roman" panose="02020603050405020304" pitchFamily="18" charset="0"/>
              </a:rPr>
              <a:t>Improves debugging and problem-solving skills through interactive learning.</a:t>
            </a:r>
          </a:p>
          <a:p>
            <a:pPr lvl="3" algn="just">
              <a:lnSpc>
                <a:spcPct val="100000"/>
              </a:lnSpc>
            </a:pPr>
            <a:r>
              <a:rPr lang="en-IN" sz="1400" dirty="0">
                <a:latin typeface="Times New Roman" panose="02020603050405020304" pitchFamily="18" charset="0"/>
                <a:cs typeface="Times New Roman" panose="02020603050405020304" pitchFamily="18" charset="0"/>
              </a:rPr>
              <a:t>Supports multiple programming languages like Java, Python, and JavaScript.</a:t>
            </a:r>
          </a:p>
          <a:p>
            <a:pPr lvl="3" algn="just">
              <a:lnSpc>
                <a:spcPct val="100000"/>
              </a:lnSpc>
            </a:pPr>
            <a:r>
              <a:rPr lang="en-IN" sz="1400" dirty="0">
                <a:latin typeface="Times New Roman" panose="02020603050405020304" pitchFamily="18" charset="0"/>
                <a:cs typeface="Times New Roman" panose="02020603050405020304" pitchFamily="18" charset="0"/>
              </a:rPr>
              <a:t>Provides secure cloud-based code execution with sandbox environments.</a:t>
            </a:r>
          </a:p>
          <a:p>
            <a:pPr lvl="3" algn="just">
              <a:lnSpc>
                <a:spcPct val="100000"/>
              </a:lnSpc>
            </a:pPr>
            <a:r>
              <a:rPr lang="en-IN" sz="1400" dirty="0">
                <a:latin typeface="Times New Roman" panose="02020603050405020304" pitchFamily="18" charset="0"/>
                <a:cs typeface="Times New Roman" panose="02020603050405020304" pitchFamily="18" charset="0"/>
              </a:rPr>
              <a:t>Enhances engagement through gamification, challenges, and progress tracking.</a:t>
            </a:r>
          </a:p>
          <a:p>
            <a:pPr lvl="3" algn="just">
              <a:lnSpc>
                <a:spcPct val="100000"/>
              </a:lnSpc>
            </a:pPr>
            <a:r>
              <a:rPr lang="en-IN" sz="1400" dirty="0">
                <a:latin typeface="Times New Roman" panose="02020603050405020304" pitchFamily="18" charset="0"/>
                <a:cs typeface="Times New Roman" panose="02020603050405020304" pitchFamily="18" charset="0"/>
              </a:rPr>
              <a:t>Delivers a complete learning experience by combining coding, AI assistance, and analytics.</a:t>
            </a:r>
          </a:p>
          <a:p>
            <a:pPr marL="1371600" lvl="3" indent="0" algn="just">
              <a:buNone/>
            </a:pPr>
            <a:endParaRPr lang="en-US" sz="1400" dirty="0">
              <a:effectLst/>
              <a:latin typeface="Times New Roman" panose="02020603050405020304" pitchFamily="18" charset="0"/>
              <a:cs typeface="Times New Roman" panose="02020603050405020304" pitchFamily="18" charset="0"/>
            </a:endParaRPr>
          </a:p>
          <a:p>
            <a:pPr marL="457200" lvl="1" indent="0" algn="just">
              <a:buNone/>
            </a:pPr>
            <a:r>
              <a:rPr lang="en-IN" sz="1600" b="1" dirty="0">
                <a:solidFill>
                  <a:srgbClr val="002060"/>
                </a:solidFill>
                <a:latin typeface="Times New Roman" panose="02020603050405020304" pitchFamily="18" charset="0"/>
                <a:cs typeface="Times New Roman" panose="02020603050405020304" pitchFamily="18" charset="0"/>
              </a:rPr>
              <a:t>2.3 Software &amp; Hardware Requirements</a:t>
            </a:r>
          </a:p>
          <a:p>
            <a:pPr lvl="2" algn="just"/>
            <a:endParaRPr lang="en-IN" sz="1600" b="1" dirty="0">
              <a:solidFill>
                <a:srgbClr val="002060"/>
              </a:solidFill>
              <a:latin typeface="Times New Roman" panose="02020603050405020304" pitchFamily="18" charset="0"/>
              <a:cs typeface="Times New Roman" panose="02020603050405020304" pitchFamily="18" charset="0"/>
            </a:endParaRPr>
          </a:p>
          <a:p>
            <a:pPr lvl="2" algn="just"/>
            <a:r>
              <a:rPr lang="en-IN" sz="1600" b="1" dirty="0">
                <a:solidFill>
                  <a:srgbClr val="002060"/>
                </a:solidFill>
                <a:latin typeface="Times New Roman" panose="02020603050405020304" pitchFamily="18" charset="0"/>
                <a:cs typeface="Times New Roman" panose="02020603050405020304" pitchFamily="18" charset="0"/>
              </a:rPr>
              <a:t>Software Requirements</a:t>
            </a:r>
          </a:p>
          <a:p>
            <a:pPr lvl="2" algn="just">
              <a:lnSpc>
                <a:spcPct val="100000"/>
              </a:lnSpc>
            </a:pPr>
            <a:r>
              <a:rPr lang="en-IN" sz="1400" b="1" dirty="0">
                <a:latin typeface="Times New Roman" panose="02020603050405020304" pitchFamily="18" charset="0"/>
                <a:cs typeface="Times New Roman" panose="02020603050405020304" pitchFamily="18" charset="0"/>
              </a:rPr>
              <a:t>Node.js:</a:t>
            </a:r>
            <a:r>
              <a:rPr lang="en-IN" sz="1400" dirty="0">
                <a:latin typeface="Times New Roman" panose="02020603050405020304" pitchFamily="18" charset="0"/>
                <a:cs typeface="Times New Roman" panose="02020603050405020304" pitchFamily="18" charset="0"/>
              </a:rPr>
              <a:t> Backend JavaScript runtime environment for building real-time applications.</a:t>
            </a:r>
          </a:p>
          <a:p>
            <a:pPr lvl="2" algn="just">
              <a:lnSpc>
                <a:spcPct val="100000"/>
              </a:lnSpc>
            </a:pPr>
            <a:r>
              <a:rPr lang="en-IN" sz="1400" b="1" dirty="0">
                <a:latin typeface="Times New Roman" panose="02020603050405020304" pitchFamily="18" charset="0"/>
                <a:cs typeface="Times New Roman" panose="02020603050405020304" pitchFamily="18" charset="0"/>
              </a:rPr>
              <a:t>Express.js:</a:t>
            </a:r>
            <a:r>
              <a:rPr lang="en-IN" sz="1400" dirty="0">
                <a:latin typeface="Times New Roman" panose="02020603050405020304" pitchFamily="18" charset="0"/>
                <a:cs typeface="Times New Roman" panose="02020603050405020304" pitchFamily="18" charset="0"/>
              </a:rPr>
              <a:t> Framework for building RESTful APIs and handling HTTP requests.</a:t>
            </a:r>
          </a:p>
          <a:p>
            <a:pPr lvl="2" algn="just">
              <a:lnSpc>
                <a:spcPct val="100000"/>
              </a:lnSpc>
            </a:pPr>
            <a:r>
              <a:rPr lang="en-IN" sz="1400" b="1" dirty="0">
                <a:latin typeface="Times New Roman" panose="02020603050405020304" pitchFamily="18" charset="0"/>
                <a:cs typeface="Times New Roman" panose="02020603050405020304" pitchFamily="18" charset="0"/>
              </a:rPr>
              <a:t>React.js:</a:t>
            </a:r>
            <a:r>
              <a:rPr lang="en-IN" sz="1400" dirty="0">
                <a:latin typeface="Times New Roman" panose="02020603050405020304" pitchFamily="18" charset="0"/>
                <a:cs typeface="Times New Roman" panose="02020603050405020304" pitchFamily="18" charset="0"/>
              </a:rPr>
              <a:t> Frontend library for building interactive and dynamic user interfaces.</a:t>
            </a:r>
          </a:p>
          <a:p>
            <a:pPr lvl="2" algn="just">
              <a:lnSpc>
                <a:spcPct val="100000"/>
              </a:lnSpc>
            </a:pPr>
            <a:r>
              <a:rPr lang="en-IN" sz="1400" b="1" dirty="0">
                <a:latin typeface="Times New Roman" panose="02020603050405020304" pitchFamily="18" charset="0"/>
                <a:cs typeface="Times New Roman" panose="02020603050405020304" pitchFamily="18" charset="0"/>
              </a:rPr>
              <a:t>MongoDB:</a:t>
            </a:r>
            <a:r>
              <a:rPr lang="en-IN" sz="1400" dirty="0">
                <a:latin typeface="Times New Roman" panose="02020603050405020304" pitchFamily="18" charset="0"/>
                <a:cs typeface="Times New Roman" panose="02020603050405020304" pitchFamily="18" charset="0"/>
              </a:rPr>
              <a:t> NoSQL database for storing user data, sessions, tasks, and project details.</a:t>
            </a:r>
          </a:p>
        </p:txBody>
      </p:sp>
      <p:sp>
        <p:nvSpPr>
          <p:cNvPr id="1048602" name="object 2"/>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Tree>
    <p:extLst>
      <p:ext uri="{BB962C8B-B14F-4D97-AF65-F5344CB8AC3E}">
        <p14:creationId xmlns:p14="http://schemas.microsoft.com/office/powerpoint/2010/main" val="23113903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Title 1"/>
          <p:cNvSpPr>
            <a:spLocks noGrp="1"/>
          </p:cNvSpPr>
          <p:nvPr>
            <p:ph type="title"/>
          </p:nvPr>
        </p:nvSpPr>
        <p:spPr>
          <a:xfrm>
            <a:off x="838200" y="365126"/>
            <a:ext cx="10515600" cy="801066"/>
          </a:xfrm>
        </p:spPr>
        <p:txBody>
          <a:bodyPr/>
          <a:lstStyle/>
          <a:p>
            <a:r>
              <a:rPr lang="en-IN" dirty="0">
                <a:solidFill>
                  <a:srgbClr val="002060"/>
                </a:solidFill>
              </a:rPr>
              <a:t>2. System Analysis</a:t>
            </a:r>
            <a:endParaRPr lang="en-IN" dirty="0"/>
          </a:p>
        </p:txBody>
      </p:sp>
      <p:sp>
        <p:nvSpPr>
          <p:cNvPr id="1048604" name="Content Placeholder 2"/>
          <p:cNvSpPr>
            <a:spLocks noGrp="1"/>
          </p:cNvSpPr>
          <p:nvPr>
            <p:ph idx="1"/>
          </p:nvPr>
        </p:nvSpPr>
        <p:spPr>
          <a:xfrm>
            <a:off x="470457" y="1225791"/>
            <a:ext cx="11247782" cy="4406418"/>
          </a:xfrm>
        </p:spPr>
        <p:txBody>
          <a:bodyPr>
            <a:noAutofit/>
          </a:bodyPr>
          <a:lstStyle/>
          <a:p>
            <a:pPr lvl="2" algn="just"/>
            <a:endParaRPr lang="en-IN" sz="1400" dirty="0">
              <a:solidFill>
                <a:srgbClr val="002060"/>
              </a:solidFill>
              <a:latin typeface="Times New Roman" panose="02020603050405020304" pitchFamily="18" charset="0"/>
              <a:cs typeface="Times New Roman" panose="02020603050405020304" pitchFamily="18" charset="0"/>
            </a:endParaRPr>
          </a:p>
          <a:p>
            <a:pPr marL="457200" lvl="1" indent="0" algn="just">
              <a:buNone/>
            </a:pPr>
            <a:r>
              <a:rPr lang="en-IN" sz="1600" b="1" dirty="0">
                <a:solidFill>
                  <a:srgbClr val="002060"/>
                </a:solidFill>
                <a:latin typeface="Times New Roman" panose="02020603050405020304" pitchFamily="18" charset="0"/>
                <a:cs typeface="Times New Roman" panose="02020603050405020304" pitchFamily="18" charset="0"/>
              </a:rPr>
              <a:t>2.4 Feasibility Study</a:t>
            </a:r>
          </a:p>
          <a:p>
            <a:pPr marL="457200" lvl="1" indent="0" algn="just">
              <a:buNone/>
            </a:pPr>
            <a:endParaRPr lang="en-IN" sz="1600" b="1" dirty="0">
              <a:latin typeface="Times New Roman" panose="02020603050405020304" pitchFamily="18" charset="0"/>
              <a:cs typeface="Times New Roman" panose="02020603050405020304" pitchFamily="18" charset="0"/>
            </a:endParaRPr>
          </a:p>
          <a:p>
            <a:pPr lvl="1" algn="just">
              <a:lnSpc>
                <a:spcPct val="150000"/>
              </a:lnSpc>
            </a:pPr>
            <a:r>
              <a:rPr lang="en-US" sz="1400" b="1" dirty="0"/>
              <a:t>Technical Feasibility:</a:t>
            </a:r>
            <a:r>
              <a:rPr lang="en-US" sz="1400" dirty="0"/>
              <a:t> Uses React.js, Node.js, Python, AI (LLMs), Docker, and MongoDB, making the project technically feasible. </a:t>
            </a:r>
          </a:p>
          <a:p>
            <a:pPr lvl="1" algn="just">
              <a:lnSpc>
                <a:spcPct val="150000"/>
              </a:lnSpc>
            </a:pPr>
            <a:r>
              <a:rPr lang="en-US" sz="1400" b="1" dirty="0"/>
              <a:t>Operational Feasibility:</a:t>
            </a:r>
            <a:r>
              <a:rPr lang="en-US" sz="1400" dirty="0"/>
              <a:t> Provides an easy-to-use AI-powered learning platform for students and beginners. </a:t>
            </a:r>
          </a:p>
          <a:p>
            <a:pPr lvl="1" algn="just">
              <a:lnSpc>
                <a:spcPct val="150000"/>
              </a:lnSpc>
            </a:pPr>
            <a:r>
              <a:rPr lang="en-US" sz="1400" b="1" dirty="0"/>
              <a:t>Economic Feasibility:</a:t>
            </a:r>
            <a:r>
              <a:rPr lang="en-US" sz="1400" dirty="0"/>
              <a:t> Developed using open-source technologies and affordable cloud services, making it cost-effective. </a:t>
            </a:r>
          </a:p>
          <a:p>
            <a:pPr lvl="1" algn="just">
              <a:lnSpc>
                <a:spcPct val="150000"/>
              </a:lnSpc>
            </a:pPr>
            <a:r>
              <a:rPr lang="en-US" sz="1400" b="1" dirty="0"/>
              <a:t>Schedule Feasibility:</a:t>
            </a:r>
            <a:r>
              <a:rPr lang="en-US" sz="1400" dirty="0"/>
              <a:t> Can be completed within the planned timeline using a modular development approach. </a:t>
            </a:r>
          </a:p>
          <a:p>
            <a:pPr lvl="1" algn="just">
              <a:lnSpc>
                <a:spcPct val="150000"/>
              </a:lnSpc>
            </a:pPr>
            <a:r>
              <a:rPr lang="en-US" sz="1400" b="1" dirty="0"/>
              <a:t>Educational Feasibility:</a:t>
            </a:r>
            <a:r>
              <a:rPr lang="en-US" sz="1400" dirty="0"/>
              <a:t> Enhances programming skills through AI guidance, code visualization, and personalized learning.</a:t>
            </a:r>
            <a:endParaRPr lang="en-IN" sz="1600" b="1" dirty="0">
              <a:solidFill>
                <a:srgbClr val="002060"/>
              </a:solidFill>
              <a:latin typeface="Times New Roman" panose="02020603050405020304" pitchFamily="18" charset="0"/>
              <a:cs typeface="Times New Roman" panose="02020603050405020304" pitchFamily="18" charset="0"/>
            </a:endParaRPr>
          </a:p>
        </p:txBody>
      </p:sp>
      <p:sp>
        <p:nvSpPr>
          <p:cNvPr id="1048605" name="object 2"/>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Title 1"/>
          <p:cNvSpPr>
            <a:spLocks noGrp="1"/>
          </p:cNvSpPr>
          <p:nvPr>
            <p:ph type="title"/>
          </p:nvPr>
        </p:nvSpPr>
        <p:spPr>
          <a:xfrm>
            <a:off x="838200" y="365125"/>
            <a:ext cx="10515600" cy="721553"/>
          </a:xfrm>
        </p:spPr>
        <p:txBody>
          <a:bodyPr/>
          <a:lstStyle/>
          <a:p>
            <a:r>
              <a:rPr lang="en-IN" dirty="0">
                <a:solidFill>
                  <a:srgbClr val="002060"/>
                </a:solidFill>
              </a:rPr>
              <a:t>3. Architectural Design</a:t>
            </a:r>
            <a:endParaRPr lang="en-IN" dirty="0"/>
          </a:p>
        </p:txBody>
      </p:sp>
      <p:sp>
        <p:nvSpPr>
          <p:cNvPr id="1048604" name="Content Placeholder 2"/>
          <p:cNvSpPr>
            <a:spLocks noGrp="1"/>
          </p:cNvSpPr>
          <p:nvPr>
            <p:ph idx="1"/>
          </p:nvPr>
        </p:nvSpPr>
        <p:spPr>
          <a:xfrm>
            <a:off x="238539" y="1241201"/>
            <a:ext cx="11410122" cy="5251674"/>
          </a:xfrm>
        </p:spPr>
        <p:txBody>
          <a:bodyPr>
            <a:noAutofit/>
          </a:bodyPr>
          <a:lstStyle/>
          <a:p>
            <a:pPr marL="457200" lvl="1" indent="0" algn="just">
              <a:buNone/>
            </a:pPr>
            <a:r>
              <a:rPr lang="en-IN" sz="1600" b="1" dirty="0">
                <a:solidFill>
                  <a:srgbClr val="002060"/>
                </a:solidFill>
                <a:latin typeface="Times New Roman" panose="02020603050405020304" pitchFamily="18" charset="0"/>
                <a:cs typeface="Times New Roman" panose="02020603050405020304" pitchFamily="18" charset="0"/>
              </a:rPr>
              <a:t>3.1 Modules Design</a:t>
            </a:r>
          </a:p>
          <a:p>
            <a:pPr lvl="2" algn="just"/>
            <a:endParaRPr lang="en-IN" sz="1400" b="1" dirty="0">
              <a:solidFill>
                <a:srgbClr val="002060"/>
              </a:solidFill>
              <a:latin typeface="Times New Roman" panose="02020603050405020304" pitchFamily="18" charset="0"/>
              <a:cs typeface="Times New Roman" panose="02020603050405020304" pitchFamily="18" charset="0"/>
            </a:endParaRPr>
          </a:p>
          <a:p>
            <a:pPr lvl="2" algn="just"/>
            <a:r>
              <a:rPr lang="en-US" sz="1600" b="1" dirty="0">
                <a:latin typeface="Times New Roman" panose="02020603050405020304" pitchFamily="18" charset="0"/>
                <a:cs typeface="Times New Roman" panose="02020603050405020304" pitchFamily="18" charset="0"/>
              </a:rPr>
              <a:t>User Management:</a:t>
            </a:r>
            <a:r>
              <a:rPr lang="en-IN" sz="14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This module manages user registration, login, profiles, and learning progress. It stores user information and tracks achievements, completed challenges, and coding history.</a:t>
            </a:r>
            <a:r>
              <a:rPr lang="en-IN" sz="1600" dirty="0">
                <a:latin typeface="Times New Roman" panose="02020603050405020304" pitchFamily="18" charset="0"/>
                <a:cs typeface="Times New Roman" panose="02020603050405020304" pitchFamily="18" charset="0"/>
              </a:rPr>
              <a:t>	</a:t>
            </a:r>
          </a:p>
          <a:p>
            <a:pPr lvl="2" algn="just"/>
            <a:endParaRPr lang="en-US" sz="1600" b="1" dirty="0">
              <a:latin typeface="Times New Roman" panose="02020603050405020304" pitchFamily="18" charset="0"/>
              <a:cs typeface="Times New Roman" panose="02020603050405020304" pitchFamily="18" charset="0"/>
            </a:endParaRPr>
          </a:p>
          <a:p>
            <a:pPr lvl="2" algn="just"/>
            <a:r>
              <a:rPr lang="en-US" sz="1600" b="1" dirty="0">
                <a:latin typeface="Times New Roman" panose="02020603050405020304" pitchFamily="18" charset="0"/>
                <a:cs typeface="Times New Roman" panose="02020603050405020304" pitchFamily="18" charset="0"/>
              </a:rPr>
              <a:t>AI-Powered Code Editor: </a:t>
            </a:r>
            <a:r>
              <a:rPr lang="en-US" sz="1600" dirty="0">
                <a:latin typeface="Times New Roman" panose="02020603050405020304" pitchFamily="18" charset="0"/>
                <a:cs typeface="Times New Roman" panose="02020603050405020304" pitchFamily="18" charset="0"/>
              </a:rPr>
              <a:t>Provides an interactive code editor where users can write Java, Python, and JavaScript programs. AI analyzes the code, detects errors, and suggests improvements in real time.</a:t>
            </a:r>
          </a:p>
          <a:p>
            <a:pPr marL="914400" lvl="2" indent="0" algn="just">
              <a:buNone/>
            </a:pPr>
            <a:endParaRPr lang="en-IN" sz="1600" dirty="0">
              <a:latin typeface="Times New Roman" panose="02020603050405020304" pitchFamily="18" charset="0"/>
              <a:cs typeface="Times New Roman" panose="02020603050405020304" pitchFamily="18" charset="0"/>
            </a:endParaRPr>
          </a:p>
          <a:p>
            <a:pPr lvl="2" algn="just"/>
            <a:r>
              <a:rPr lang="en-US" sz="1600" b="1" dirty="0">
                <a:latin typeface="Times New Roman" panose="02020603050405020304" pitchFamily="18" charset="0"/>
                <a:cs typeface="Times New Roman" panose="02020603050405020304" pitchFamily="18" charset="0"/>
              </a:rPr>
              <a:t>Code Execution &amp; Visualization: </a:t>
            </a:r>
            <a:r>
              <a:rPr lang="en-US" sz="1600" dirty="0">
                <a:latin typeface="Times New Roman" panose="02020603050405020304" pitchFamily="18" charset="0"/>
                <a:cs typeface="Times New Roman" panose="02020603050405020304" pitchFamily="18" charset="0"/>
              </a:rPr>
              <a:t>Executes user programs securely inside a sandbox environment and displays step-by-step execution. It visualizes variables, loops, memory, and data structures to improve understanding.</a:t>
            </a:r>
          </a:p>
          <a:p>
            <a:pPr marL="914400" lvl="2" indent="0" algn="just">
              <a:buNone/>
            </a:pPr>
            <a:endParaRPr lang="en-US" sz="1600" dirty="0">
              <a:latin typeface="Times New Roman" panose="02020603050405020304" pitchFamily="18" charset="0"/>
              <a:cs typeface="Times New Roman" panose="02020603050405020304" pitchFamily="18" charset="0"/>
            </a:endParaRPr>
          </a:p>
          <a:p>
            <a:pPr lvl="2" algn="just"/>
            <a:r>
              <a:rPr lang="en-US" sz="1600" b="1" dirty="0">
                <a:latin typeface="Times New Roman" panose="02020603050405020304" pitchFamily="18" charset="0"/>
                <a:cs typeface="Times New Roman" panose="02020603050405020304" pitchFamily="18" charset="0"/>
              </a:rPr>
              <a:t>AI Learning Assistant: </a:t>
            </a:r>
            <a:r>
              <a:rPr lang="en-US" sz="1600" dirty="0">
                <a:latin typeface="Times New Roman" panose="02020603050405020304" pitchFamily="18" charset="0"/>
                <a:cs typeface="Times New Roman" panose="02020603050405020304" pitchFamily="18" charset="0"/>
              </a:rPr>
              <a:t>Acts as an intelligent programming tutor by answering coding questions, explaining concepts, and providing personalized learning recommendations based on user performance</a:t>
            </a:r>
            <a:r>
              <a:rPr lang="en-US" sz="1400" dirty="0">
                <a:latin typeface="Times New Roman" panose="02020603050405020304" pitchFamily="18" charset="0"/>
                <a:cs typeface="Times New Roman" panose="02020603050405020304" pitchFamily="18" charset="0"/>
              </a:rPr>
              <a:t>.</a:t>
            </a:r>
          </a:p>
          <a:p>
            <a:pPr marL="914400" lvl="2" indent="0" algn="just">
              <a:buNone/>
            </a:pPr>
            <a:endParaRPr lang="en-US" sz="1400" dirty="0">
              <a:latin typeface="Times New Roman" panose="02020603050405020304" pitchFamily="18" charset="0"/>
              <a:cs typeface="Times New Roman" panose="02020603050405020304" pitchFamily="18" charset="0"/>
            </a:endParaRPr>
          </a:p>
          <a:p>
            <a:pPr lvl="2" algn="just"/>
            <a:r>
              <a:rPr lang="en-US" sz="1600" b="1" dirty="0">
                <a:latin typeface="Times New Roman" panose="02020603050405020304" pitchFamily="18" charset="0"/>
                <a:cs typeface="Times New Roman" panose="02020603050405020304" pitchFamily="18" charset="0"/>
              </a:rPr>
              <a:t>Gamification &amp; Challenges: </a:t>
            </a:r>
            <a:r>
              <a:rPr lang="en-US" sz="1600" dirty="0">
                <a:latin typeface="Times New Roman" panose="02020603050405020304" pitchFamily="18" charset="0"/>
                <a:cs typeface="Times New Roman" panose="02020603050405020304" pitchFamily="18" charset="0"/>
              </a:rPr>
              <a:t>Motivates learners through coding challenges, badges, rewards, experience points (XP), and levels. AI generates personalized challenges according to the learner's skill level.</a:t>
            </a:r>
          </a:p>
          <a:p>
            <a:pPr marL="914400" lvl="2" indent="0" algn="just">
              <a:buNone/>
            </a:pPr>
            <a:endParaRPr lang="en-US" sz="1600" dirty="0">
              <a:latin typeface="Times New Roman" panose="02020603050405020304" pitchFamily="18" charset="0"/>
              <a:cs typeface="Times New Roman" panose="02020603050405020304" pitchFamily="18" charset="0"/>
            </a:endParaRPr>
          </a:p>
          <a:p>
            <a:pPr lvl="2" algn="just"/>
            <a:r>
              <a:rPr lang="en-US" sz="1600" b="1" dirty="0">
                <a:latin typeface="Times New Roman" panose="02020603050405020304" pitchFamily="18" charset="0"/>
                <a:cs typeface="Times New Roman" panose="02020603050405020304" pitchFamily="18" charset="0"/>
              </a:rPr>
              <a:t>Analytics &amp; Reports: </a:t>
            </a:r>
            <a:r>
              <a:rPr lang="en-US" sz="1600" dirty="0">
                <a:latin typeface="Times New Roman" panose="02020603050405020304" pitchFamily="18" charset="0"/>
                <a:cs typeface="Times New Roman" panose="02020603050405020304" pitchFamily="18" charset="0"/>
              </a:rPr>
              <a:t>Monitors coding activity, learning progress, and performance. It identifies weak areas and provides reports with AI-based improvement suggestions.</a:t>
            </a:r>
            <a:endParaRPr lang="en-US" sz="1400" dirty="0">
              <a:latin typeface="Times New Roman" panose="02020603050405020304" pitchFamily="18" charset="0"/>
              <a:cs typeface="Times New Roman" panose="02020603050405020304" pitchFamily="18" charset="0"/>
            </a:endParaRPr>
          </a:p>
        </p:txBody>
      </p:sp>
      <p:sp>
        <p:nvSpPr>
          <p:cNvPr id="1048605" name="object 2"/>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Tree>
    <p:extLst>
      <p:ext uri="{BB962C8B-B14F-4D97-AF65-F5344CB8AC3E}">
        <p14:creationId xmlns:p14="http://schemas.microsoft.com/office/powerpoint/2010/main" val="5513323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Title 1"/>
          <p:cNvSpPr>
            <a:spLocks noGrp="1"/>
          </p:cNvSpPr>
          <p:nvPr>
            <p:ph type="title"/>
          </p:nvPr>
        </p:nvSpPr>
        <p:spPr>
          <a:xfrm>
            <a:off x="838200" y="365125"/>
            <a:ext cx="10515600" cy="721553"/>
          </a:xfrm>
        </p:spPr>
        <p:txBody>
          <a:bodyPr/>
          <a:lstStyle/>
          <a:p>
            <a:r>
              <a:rPr lang="en-IN" dirty="0">
                <a:solidFill>
                  <a:srgbClr val="002060"/>
                </a:solidFill>
              </a:rPr>
              <a:t>3. Architectural Design</a:t>
            </a:r>
            <a:endParaRPr lang="en-IN" dirty="0"/>
          </a:p>
        </p:txBody>
      </p:sp>
      <p:sp>
        <p:nvSpPr>
          <p:cNvPr id="1048604" name="Content Placeholder 2"/>
          <p:cNvSpPr>
            <a:spLocks noGrp="1"/>
          </p:cNvSpPr>
          <p:nvPr>
            <p:ph idx="1"/>
          </p:nvPr>
        </p:nvSpPr>
        <p:spPr>
          <a:xfrm>
            <a:off x="-227992" y="1087900"/>
            <a:ext cx="3465714" cy="587599"/>
          </a:xfrm>
        </p:spPr>
        <p:txBody>
          <a:bodyPr>
            <a:noAutofit/>
          </a:bodyPr>
          <a:lstStyle/>
          <a:p>
            <a:pPr marL="457200" lvl="1" indent="0" algn="just">
              <a:buNone/>
            </a:pPr>
            <a:r>
              <a:rPr lang="en-IN" sz="1600" b="1" dirty="0">
                <a:solidFill>
                  <a:srgbClr val="002060"/>
                </a:solidFill>
                <a:latin typeface="Times New Roman" panose="02020603050405020304" pitchFamily="18" charset="0"/>
                <a:cs typeface="Times New Roman" panose="02020603050405020304" pitchFamily="18" charset="0"/>
              </a:rPr>
              <a:t>3.3 </a:t>
            </a:r>
            <a:r>
              <a:rPr lang="en-US" sz="1400" b="1" dirty="0">
                <a:solidFill>
                  <a:srgbClr val="002060"/>
                </a:solidFill>
                <a:latin typeface="Times New Roman" panose="02020603050405020304" pitchFamily="18" charset="0"/>
                <a:cs typeface="Times New Roman" panose="02020603050405020304" pitchFamily="18" charset="0"/>
              </a:rPr>
              <a:t>Project Architecture</a:t>
            </a:r>
          </a:p>
          <a:p>
            <a:pPr marL="457200" lvl="1" indent="0" algn="just">
              <a:buNone/>
            </a:pPr>
            <a:r>
              <a:rPr lang="en-US" sz="1400" b="1" dirty="0">
                <a:solidFill>
                  <a:srgbClr val="002060"/>
                </a:solidFill>
                <a:latin typeface="Times New Roman" panose="02020603050405020304" pitchFamily="18" charset="0"/>
                <a:cs typeface="Times New Roman" panose="02020603050405020304" pitchFamily="18" charset="0"/>
              </a:rPr>
              <a:t>	3.3.1 Architectural Diagram</a:t>
            </a:r>
            <a:endParaRPr lang="en-IN" sz="1400" b="1" dirty="0">
              <a:solidFill>
                <a:srgbClr val="002060"/>
              </a:solidFill>
              <a:latin typeface="Times New Roman" panose="02020603050405020304" pitchFamily="18" charset="0"/>
              <a:cs typeface="Times New Roman" panose="02020603050405020304" pitchFamily="18" charset="0"/>
            </a:endParaRPr>
          </a:p>
        </p:txBody>
      </p:sp>
      <p:sp>
        <p:nvSpPr>
          <p:cNvPr id="1048605" name="object 2"/>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pic>
        <p:nvPicPr>
          <p:cNvPr id="3" name="Picture 2">
            <a:extLst>
              <a:ext uri="{FF2B5EF4-FFF2-40B4-BE49-F238E27FC236}">
                <a16:creationId xmlns:a16="http://schemas.microsoft.com/office/drawing/2014/main" id="{E626CBCD-D9A4-D67A-5AE0-DCD3A7F33D39}"/>
              </a:ext>
            </a:extLst>
          </p:cNvPr>
          <p:cNvPicPr>
            <a:picLocks noChangeAspect="1"/>
          </p:cNvPicPr>
          <p:nvPr/>
        </p:nvPicPr>
        <p:blipFill>
          <a:blip r:embed="rId2"/>
          <a:stretch>
            <a:fillRect/>
          </a:stretch>
        </p:blipFill>
        <p:spPr>
          <a:xfrm>
            <a:off x="2939144" y="1086677"/>
            <a:ext cx="8862714" cy="5701219"/>
          </a:xfrm>
          <a:prstGeom prst="rect">
            <a:avLst/>
          </a:prstGeom>
        </p:spPr>
      </p:pic>
    </p:spTree>
    <p:extLst>
      <p:ext uri="{BB962C8B-B14F-4D97-AF65-F5344CB8AC3E}">
        <p14:creationId xmlns:p14="http://schemas.microsoft.com/office/powerpoint/2010/main" val="17027723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00D1D-0381-45CF-9ADE-9C274B6E65E6}"/>
              </a:ext>
            </a:extLst>
          </p:cNvPr>
          <p:cNvSpPr>
            <a:spLocks noGrp="1"/>
          </p:cNvSpPr>
          <p:nvPr>
            <p:ph type="title"/>
          </p:nvPr>
        </p:nvSpPr>
        <p:spPr>
          <a:xfrm>
            <a:off x="838200" y="455168"/>
            <a:ext cx="10515600" cy="451737"/>
          </a:xfrm>
        </p:spPr>
        <p:txBody>
          <a:bodyPr>
            <a:normAutofit fontScale="90000"/>
          </a:bodyPr>
          <a:lstStyle/>
          <a:p>
            <a:r>
              <a:rPr lang="en-US" sz="4000" dirty="0">
                <a:solidFill>
                  <a:schemeClr val="accent1">
                    <a:lumMod val="50000"/>
                  </a:schemeClr>
                </a:solidFill>
                <a:latin typeface="Times New Roman" panose="02020603050405020304" pitchFamily="18" charset="0"/>
                <a:cs typeface="Times New Roman" panose="02020603050405020304" pitchFamily="18" charset="0"/>
              </a:rPr>
              <a:t>Architectural Diagram:</a:t>
            </a:r>
            <a:endParaRPr lang="en-IN" sz="40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437756F-EEC9-4211-9B59-E3B5CF36456D}"/>
              </a:ext>
            </a:extLst>
          </p:cNvPr>
          <p:cNvSpPr>
            <a:spLocks noGrp="1"/>
          </p:cNvSpPr>
          <p:nvPr>
            <p:ph idx="1"/>
          </p:nvPr>
        </p:nvSpPr>
        <p:spPr>
          <a:xfrm>
            <a:off x="838200" y="1070251"/>
            <a:ext cx="10515600" cy="4351338"/>
          </a:xfrm>
        </p:spPr>
        <p:txBody>
          <a:bodyPr>
            <a:normAutofit/>
          </a:bodyPr>
          <a:lstStyle/>
          <a:p>
            <a:pPr algn="just"/>
            <a:r>
              <a:rPr lang="en-IN" sz="2400" b="1" dirty="0">
                <a:solidFill>
                  <a:schemeClr val="accent1">
                    <a:lumMod val="50000"/>
                  </a:schemeClr>
                </a:solidFill>
                <a:latin typeface="Times New Roman" panose="02020603050405020304" pitchFamily="18" charset="0"/>
                <a:cs typeface="Times New Roman" panose="02020603050405020304" pitchFamily="18" charset="0"/>
              </a:rPr>
              <a:t>Actors</a:t>
            </a:r>
            <a:r>
              <a:rPr lang="en-IN" sz="2400" dirty="0">
                <a:solidFill>
                  <a:schemeClr val="accent1">
                    <a:lumMod val="50000"/>
                  </a:schemeClr>
                </a:solidFill>
                <a:latin typeface="Times New Roman" panose="02020603050405020304" pitchFamily="18" charset="0"/>
                <a:cs typeface="Times New Roman" panose="02020603050405020304" pitchFamily="18" charset="0"/>
              </a:rPr>
              <a:t>:</a:t>
            </a:r>
          </a:p>
          <a:p>
            <a:pPr algn="just"/>
            <a:r>
              <a:rPr lang="en-US" sz="1600" b="1" dirty="0">
                <a:latin typeface="Times New Roman" panose="02020603050405020304" pitchFamily="18" charset="0"/>
                <a:cs typeface="Times New Roman" panose="02020603050405020304" pitchFamily="18" charset="0"/>
              </a:rPr>
              <a:t>Learner (Student):</a:t>
            </a:r>
            <a:r>
              <a:rPr lang="en-US" sz="1600" dirty="0">
                <a:latin typeface="Times New Roman" panose="02020603050405020304" pitchFamily="18" charset="0"/>
                <a:cs typeface="Times New Roman" panose="02020603050405020304" pitchFamily="18" charset="0"/>
              </a:rPr>
              <a:t> Uses the platform to practice coding, learn concepts, and complete assessments. </a:t>
            </a:r>
          </a:p>
          <a:p>
            <a:pPr algn="just"/>
            <a:r>
              <a:rPr lang="en-US" sz="1600" b="1" dirty="0">
                <a:latin typeface="Times New Roman" panose="02020603050405020304" pitchFamily="18" charset="0"/>
                <a:cs typeface="Times New Roman" panose="02020603050405020304" pitchFamily="18" charset="0"/>
              </a:rPr>
              <a:t>Teacher/Admin:</a:t>
            </a:r>
            <a:r>
              <a:rPr lang="en-US" sz="1600" dirty="0">
                <a:latin typeface="Times New Roman" panose="02020603050405020304" pitchFamily="18" charset="0"/>
                <a:cs typeface="Times New Roman" panose="02020603050405020304" pitchFamily="18" charset="0"/>
              </a:rPr>
              <a:t> Manages learning content and monitors student progress. </a:t>
            </a:r>
          </a:p>
          <a:p>
            <a:pPr algn="just"/>
            <a:r>
              <a:rPr lang="en-US" sz="1600" b="1" dirty="0">
                <a:latin typeface="Times New Roman" panose="02020603050405020304" pitchFamily="18" charset="0"/>
                <a:cs typeface="Times New Roman" panose="02020603050405020304" pitchFamily="18" charset="0"/>
              </a:rPr>
              <a:t>AI Agent System:</a:t>
            </a:r>
            <a:r>
              <a:rPr lang="en-US" sz="1600" dirty="0">
                <a:latin typeface="Times New Roman" panose="02020603050405020304" pitchFamily="18" charset="0"/>
                <a:cs typeface="Times New Roman" panose="02020603050405020304" pitchFamily="18" charset="0"/>
              </a:rPr>
              <a:t> Provides intelligent assistance, code analysis, and personalized learning support. </a:t>
            </a:r>
          </a:p>
          <a:p>
            <a:pPr algn="just"/>
            <a:r>
              <a:rPr lang="en-US" sz="1600" b="1" dirty="0">
                <a:latin typeface="Times New Roman" panose="02020603050405020304" pitchFamily="18" charset="0"/>
                <a:cs typeface="Times New Roman" panose="02020603050405020304" pitchFamily="18" charset="0"/>
              </a:rPr>
              <a:t>Code Execution Sandbox:</a:t>
            </a:r>
            <a:r>
              <a:rPr lang="en-US" sz="1600" dirty="0">
                <a:latin typeface="Times New Roman" panose="02020603050405020304" pitchFamily="18" charset="0"/>
                <a:cs typeface="Times New Roman" panose="02020603050405020304" pitchFamily="18" charset="0"/>
              </a:rPr>
              <a:t> Compiles and executes code securely while returning execution results and errors.</a:t>
            </a:r>
          </a:p>
          <a:p>
            <a:pPr algn="just"/>
            <a:r>
              <a:rPr lang="en-IN" sz="2400" b="1" dirty="0">
                <a:solidFill>
                  <a:schemeClr val="accent1">
                    <a:lumMod val="50000"/>
                  </a:schemeClr>
                </a:solidFill>
                <a:latin typeface="Times New Roman" panose="02020603050405020304" pitchFamily="18" charset="0"/>
                <a:cs typeface="Times New Roman" panose="02020603050405020304" pitchFamily="18" charset="0"/>
              </a:rPr>
              <a:t>Core Use Cases</a:t>
            </a:r>
            <a:r>
              <a:rPr lang="en-IN" sz="2400" dirty="0">
                <a:solidFill>
                  <a:schemeClr val="accent1">
                    <a:lumMod val="50000"/>
                  </a:schemeClr>
                </a:solidFill>
                <a:latin typeface="Times New Roman" panose="02020603050405020304" pitchFamily="18" charset="0"/>
                <a:cs typeface="Times New Roman" panose="02020603050405020304" pitchFamily="18" charset="0"/>
              </a:rPr>
              <a:t>:</a:t>
            </a:r>
          </a:p>
          <a:p>
            <a:pPr algn="just"/>
            <a:r>
              <a:rPr lang="en-US" sz="1600" b="1" dirty="0">
                <a:latin typeface="Times New Roman" panose="02020603050405020304" pitchFamily="18" charset="0"/>
                <a:cs typeface="Times New Roman" panose="02020603050405020304" pitchFamily="18" charset="0"/>
              </a:rPr>
              <a:t>Register &amp; Onboard:</a:t>
            </a:r>
            <a:r>
              <a:rPr lang="en-US" sz="1600" dirty="0">
                <a:latin typeface="Times New Roman" panose="02020603050405020304" pitchFamily="18" charset="0"/>
                <a:cs typeface="Times New Roman" panose="02020603050405020304" pitchFamily="18" charset="0"/>
              </a:rPr>
              <a:t> Completes registration and a pre-assessment to receive a personalized learning path. </a:t>
            </a:r>
          </a:p>
          <a:p>
            <a:pPr algn="just"/>
            <a:r>
              <a:rPr lang="en-US" sz="1600" b="1" dirty="0">
                <a:latin typeface="Times New Roman" panose="02020603050405020304" pitchFamily="18" charset="0"/>
                <a:cs typeface="Times New Roman" panose="02020603050405020304" pitchFamily="18" charset="0"/>
              </a:rPr>
              <a:t>Practice Coding:</a:t>
            </a:r>
            <a:r>
              <a:rPr lang="en-US" sz="1600" dirty="0">
                <a:latin typeface="Times New Roman" panose="02020603050405020304" pitchFamily="18" charset="0"/>
                <a:cs typeface="Times New Roman" panose="02020603050405020304" pitchFamily="18" charset="0"/>
              </a:rPr>
              <a:t> Writes and executes code in the Monaco Editor with AI-powered feedback and error analysis. </a:t>
            </a:r>
          </a:p>
          <a:p>
            <a:pPr algn="just"/>
            <a:r>
              <a:rPr lang="en-US" sz="1600" b="1" dirty="0">
                <a:latin typeface="Times New Roman" panose="02020603050405020304" pitchFamily="18" charset="0"/>
                <a:cs typeface="Times New Roman" panose="02020603050405020304" pitchFamily="18" charset="0"/>
              </a:rPr>
              <a:t>AI Learning Support:</a:t>
            </a:r>
            <a:r>
              <a:rPr lang="en-US" sz="1600" dirty="0">
                <a:latin typeface="Times New Roman" panose="02020603050405020304" pitchFamily="18" charset="0"/>
                <a:cs typeface="Times New Roman" panose="02020603050405020304" pitchFamily="18" charset="0"/>
              </a:rPr>
              <a:t> Interacts with the AI chatbot to understand programming concepts and solve coding problems.</a:t>
            </a:r>
          </a:p>
          <a:p>
            <a:pPr algn="just"/>
            <a:r>
              <a:rPr lang="en-US" sz="1600" b="1" dirty="0">
                <a:latin typeface="Times New Roman" panose="02020603050405020304" pitchFamily="18" charset="0"/>
                <a:cs typeface="Times New Roman" panose="02020603050405020304" pitchFamily="18" charset="0"/>
              </a:rPr>
              <a:t>Complete Challenges &amp; Mock Interviews:</a:t>
            </a:r>
            <a:r>
              <a:rPr lang="en-US" sz="1600" dirty="0">
                <a:latin typeface="Times New Roman" panose="02020603050405020304" pitchFamily="18" charset="0"/>
                <a:cs typeface="Times New Roman" panose="02020603050405020304" pitchFamily="18" charset="0"/>
              </a:rPr>
              <a:t> Solves AI-generated coding challenges, quizzes, and participates in mock interviews. </a:t>
            </a:r>
          </a:p>
          <a:p>
            <a:pPr algn="just"/>
            <a:r>
              <a:rPr lang="en-US" sz="1600" b="1" dirty="0">
                <a:latin typeface="Times New Roman" panose="02020603050405020304" pitchFamily="18" charset="0"/>
                <a:cs typeface="Times New Roman" panose="02020603050405020304" pitchFamily="18" charset="0"/>
              </a:rPr>
              <a:t>Track Progress:</a:t>
            </a:r>
            <a:r>
              <a:rPr lang="en-US" sz="1600" dirty="0">
                <a:latin typeface="Times New Roman" panose="02020603050405020304" pitchFamily="18" charset="0"/>
                <a:cs typeface="Times New Roman" panose="02020603050405020304" pitchFamily="18" charset="0"/>
              </a:rPr>
              <a:t> Monitors XP, badges, levels, achievements, and overall learning performance through the dashboard.</a:t>
            </a:r>
          </a:p>
          <a:p>
            <a:pPr marL="0" indent="0" algn="just">
              <a:buNone/>
            </a:pPr>
            <a:endParaRPr lang="en-IN" sz="1600" dirty="0">
              <a:latin typeface="Times New Roman" panose="02020603050405020304" pitchFamily="18" charset="0"/>
              <a:cs typeface="Times New Roman" panose="02020603050405020304" pitchFamily="18" charset="0"/>
            </a:endParaRPr>
          </a:p>
        </p:txBody>
      </p:sp>
      <p:sp>
        <p:nvSpPr>
          <p:cNvPr id="4" name="object 2">
            <a:extLst>
              <a:ext uri="{FF2B5EF4-FFF2-40B4-BE49-F238E27FC236}">
                <a16:creationId xmlns:a16="http://schemas.microsoft.com/office/drawing/2014/main" id="{D971F82D-F917-46CF-8BA6-87DCE81935E6}"/>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Tree>
    <p:extLst>
      <p:ext uri="{BB962C8B-B14F-4D97-AF65-F5344CB8AC3E}">
        <p14:creationId xmlns:p14="http://schemas.microsoft.com/office/powerpoint/2010/main" val="11839248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Title 1"/>
          <p:cNvSpPr>
            <a:spLocks noGrp="1"/>
          </p:cNvSpPr>
          <p:nvPr>
            <p:ph type="title"/>
          </p:nvPr>
        </p:nvSpPr>
        <p:spPr>
          <a:xfrm>
            <a:off x="838200" y="365125"/>
            <a:ext cx="10515600" cy="721553"/>
          </a:xfrm>
        </p:spPr>
        <p:txBody>
          <a:bodyPr/>
          <a:lstStyle/>
          <a:p>
            <a:r>
              <a:rPr lang="en-IN" dirty="0">
                <a:solidFill>
                  <a:srgbClr val="002060"/>
                </a:solidFill>
              </a:rPr>
              <a:t>3. Architectural Design</a:t>
            </a:r>
            <a:endParaRPr lang="en-IN" dirty="0"/>
          </a:p>
        </p:txBody>
      </p:sp>
      <p:sp>
        <p:nvSpPr>
          <p:cNvPr id="1048604" name="Content Placeholder 2"/>
          <p:cNvSpPr>
            <a:spLocks noGrp="1"/>
          </p:cNvSpPr>
          <p:nvPr>
            <p:ph idx="1"/>
          </p:nvPr>
        </p:nvSpPr>
        <p:spPr>
          <a:xfrm>
            <a:off x="238539" y="1254453"/>
            <a:ext cx="11410122" cy="587599"/>
          </a:xfrm>
        </p:spPr>
        <p:txBody>
          <a:bodyPr>
            <a:noAutofit/>
          </a:bodyPr>
          <a:lstStyle/>
          <a:p>
            <a:pPr marL="457200" lvl="1" indent="0" algn="just">
              <a:buNone/>
            </a:pPr>
            <a:r>
              <a:rPr lang="en-IN" sz="1600" b="1" dirty="0">
                <a:solidFill>
                  <a:srgbClr val="002060"/>
                </a:solidFill>
                <a:latin typeface="Times New Roman" panose="02020603050405020304" pitchFamily="18" charset="0"/>
                <a:cs typeface="Times New Roman" panose="02020603050405020304" pitchFamily="18" charset="0"/>
              </a:rPr>
              <a:t>3.3 </a:t>
            </a:r>
            <a:r>
              <a:rPr lang="en-US" sz="1400" b="1" dirty="0">
                <a:solidFill>
                  <a:srgbClr val="002060"/>
                </a:solidFill>
                <a:latin typeface="Times New Roman" panose="02020603050405020304" pitchFamily="18" charset="0"/>
                <a:cs typeface="Times New Roman" panose="02020603050405020304" pitchFamily="18" charset="0"/>
              </a:rPr>
              <a:t>Project Architecture</a:t>
            </a:r>
          </a:p>
          <a:p>
            <a:pPr marL="457200" lvl="1" indent="0" algn="just">
              <a:buNone/>
            </a:pPr>
            <a:r>
              <a:rPr lang="en-US" sz="1400" b="1" dirty="0">
                <a:solidFill>
                  <a:srgbClr val="002060"/>
                </a:solidFill>
                <a:latin typeface="Times New Roman" panose="02020603050405020304" pitchFamily="18" charset="0"/>
                <a:cs typeface="Times New Roman" panose="02020603050405020304" pitchFamily="18" charset="0"/>
              </a:rPr>
              <a:t>	3.3.2 Data Flow Diagram</a:t>
            </a:r>
            <a:endParaRPr lang="en-IN" sz="1400" b="1" dirty="0">
              <a:solidFill>
                <a:srgbClr val="002060"/>
              </a:solidFill>
              <a:latin typeface="Times New Roman" panose="02020603050405020304" pitchFamily="18" charset="0"/>
              <a:cs typeface="Times New Roman" panose="02020603050405020304" pitchFamily="18" charset="0"/>
            </a:endParaRPr>
          </a:p>
        </p:txBody>
      </p:sp>
      <p:sp>
        <p:nvSpPr>
          <p:cNvPr id="1048605" name="object 2"/>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pic>
        <p:nvPicPr>
          <p:cNvPr id="3" name="Picture 2">
            <a:extLst>
              <a:ext uri="{FF2B5EF4-FFF2-40B4-BE49-F238E27FC236}">
                <a16:creationId xmlns:a16="http://schemas.microsoft.com/office/drawing/2014/main" id="{E68E48D7-4249-E35E-9C18-657552C3B5A3}"/>
              </a:ext>
            </a:extLst>
          </p:cNvPr>
          <p:cNvPicPr>
            <a:picLocks noChangeAspect="1"/>
          </p:cNvPicPr>
          <p:nvPr/>
        </p:nvPicPr>
        <p:blipFill>
          <a:blip r:embed="rId2"/>
          <a:stretch>
            <a:fillRect/>
          </a:stretch>
        </p:blipFill>
        <p:spPr>
          <a:xfrm>
            <a:off x="979714" y="1842052"/>
            <a:ext cx="10374086" cy="4397121"/>
          </a:xfrm>
          <a:prstGeom prst="rect">
            <a:avLst/>
          </a:prstGeom>
        </p:spPr>
      </p:pic>
    </p:spTree>
    <p:extLst>
      <p:ext uri="{BB962C8B-B14F-4D97-AF65-F5344CB8AC3E}">
        <p14:creationId xmlns:p14="http://schemas.microsoft.com/office/powerpoint/2010/main" val="35665536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00D1D-0381-45CF-9ADE-9C274B6E65E6}"/>
              </a:ext>
            </a:extLst>
          </p:cNvPr>
          <p:cNvSpPr>
            <a:spLocks noGrp="1"/>
          </p:cNvSpPr>
          <p:nvPr>
            <p:ph type="title"/>
          </p:nvPr>
        </p:nvSpPr>
        <p:spPr>
          <a:xfrm>
            <a:off x="838200" y="455168"/>
            <a:ext cx="10515600" cy="451737"/>
          </a:xfrm>
        </p:spPr>
        <p:txBody>
          <a:bodyPr>
            <a:normAutofit fontScale="90000"/>
          </a:bodyPr>
          <a:lstStyle/>
          <a:p>
            <a:r>
              <a:rPr lang="en-US" sz="4000" dirty="0">
                <a:solidFill>
                  <a:schemeClr val="accent1">
                    <a:lumMod val="50000"/>
                  </a:schemeClr>
                </a:solidFill>
                <a:latin typeface="Times New Roman" panose="02020603050405020304" pitchFamily="18" charset="0"/>
                <a:cs typeface="Times New Roman" panose="02020603050405020304" pitchFamily="18" charset="0"/>
              </a:rPr>
              <a:t>Data Flow Diagram:</a:t>
            </a:r>
            <a:endParaRPr lang="en-IN" sz="40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437756F-EEC9-4211-9B59-E3B5CF36456D}"/>
              </a:ext>
            </a:extLst>
          </p:cNvPr>
          <p:cNvSpPr>
            <a:spLocks noGrp="1"/>
          </p:cNvSpPr>
          <p:nvPr>
            <p:ph idx="1"/>
          </p:nvPr>
        </p:nvSpPr>
        <p:spPr>
          <a:xfrm>
            <a:off x="836548" y="1189519"/>
            <a:ext cx="10515600" cy="5012497"/>
          </a:xfrm>
        </p:spPr>
        <p:txBody>
          <a:bodyPr>
            <a:normAutofit/>
          </a:bodyPr>
          <a:lstStyle/>
          <a:p>
            <a:pPr algn="just"/>
            <a:r>
              <a:rPr lang="en-US" sz="1600" b="1" dirty="0">
                <a:latin typeface="Times New Roman" panose="02020603050405020304" pitchFamily="18" charset="0"/>
                <a:cs typeface="Times New Roman" panose="02020603050405020304" pitchFamily="18" charset="0"/>
              </a:rPr>
              <a:t>User Onboarding and Dynamic Profiling</a:t>
            </a:r>
            <a:r>
              <a:rPr lang="en-US" sz="1600" dirty="0">
                <a:latin typeface="Times New Roman" panose="02020603050405020304" pitchFamily="18" charset="0"/>
                <a:cs typeface="Times New Roman" panose="02020603050405020304" pitchFamily="18" charset="0"/>
              </a:rPr>
              <a:t>: Questionnaire responses flow to the AI Profiling Agent, which updates the user's skill levels in MongoDB and creates a custom learning path.</a:t>
            </a:r>
          </a:p>
          <a:p>
            <a:pPr algn="just"/>
            <a:r>
              <a:rPr lang="en-US" sz="1600" b="1" dirty="0">
                <a:latin typeface="Times New Roman" panose="02020603050405020304" pitchFamily="18" charset="0"/>
                <a:cs typeface="Times New Roman" panose="02020603050405020304" pitchFamily="18" charset="0"/>
              </a:rPr>
              <a:t>Code Execution Pipeline</a:t>
            </a:r>
            <a:r>
              <a:rPr lang="en-US" sz="1600" dirty="0">
                <a:latin typeface="Times New Roman" panose="02020603050405020304" pitchFamily="18" charset="0"/>
                <a:cs typeface="Times New Roman" panose="02020603050405020304" pitchFamily="18" charset="0"/>
              </a:rPr>
              <a:t>: Source code and test inputs flow to the backend, which compiles/interprets the code in a local child-process sandbox and returns </a:t>
            </a:r>
            <a:r>
              <a:rPr lang="en-US" sz="1600" dirty="0" err="1">
                <a:latin typeface="Times New Roman" panose="02020603050405020304" pitchFamily="18" charset="0"/>
                <a:cs typeface="Times New Roman" panose="02020603050405020304" pitchFamily="18" charset="0"/>
              </a:rPr>
              <a:t>stdout</a:t>
            </a:r>
            <a:r>
              <a:rPr lang="en-US" sz="1600" dirty="0">
                <a:latin typeface="Times New Roman" panose="02020603050405020304" pitchFamily="18" charset="0"/>
                <a:cs typeface="Times New Roman" panose="02020603050405020304" pitchFamily="18" charset="0"/>
              </a:rPr>
              <a:t>/stderr.</a:t>
            </a:r>
          </a:p>
          <a:p>
            <a:pPr algn="just"/>
            <a:r>
              <a:rPr lang="en-US" sz="1600" b="1" dirty="0">
                <a:latin typeface="Times New Roman" panose="02020603050405020304" pitchFamily="18" charset="0"/>
                <a:cs typeface="Times New Roman" panose="02020603050405020304" pitchFamily="18" charset="0"/>
              </a:rPr>
              <a:t>Agentic Copilot Feedback Loop</a:t>
            </a:r>
            <a:r>
              <a:rPr lang="en-US" sz="1600" dirty="0">
                <a:latin typeface="Times New Roman" panose="02020603050405020304" pitchFamily="18" charset="0"/>
                <a:cs typeface="Times New Roman" panose="02020603050405020304" pitchFamily="18" charset="0"/>
              </a:rPr>
              <a:t>: When execution fails, code and error logs are sent to the AI Planner-Executor-Synthesizer loop to compile diagnostic repair advice for the user.</a:t>
            </a:r>
          </a:p>
          <a:p>
            <a:pPr algn="just"/>
            <a:r>
              <a:rPr lang="en-US" sz="1600" b="1" dirty="0">
                <a:latin typeface="Times New Roman" panose="02020603050405020304" pitchFamily="18" charset="0"/>
                <a:cs typeface="Times New Roman" panose="02020603050405020304" pitchFamily="18" charset="0"/>
              </a:rPr>
              <a:t>Interactive Step-by-Step Visualization</a:t>
            </a:r>
            <a:r>
              <a:rPr lang="en-US" sz="1600" dirty="0">
                <a:latin typeface="Times New Roman" panose="02020603050405020304" pitchFamily="18" charset="0"/>
                <a:cs typeface="Times New Roman" panose="02020603050405020304" pitchFamily="18" charset="0"/>
              </a:rPr>
              <a:t>: Code state traces are processed into React Flow arrays to dynamically render visual pointers, trees, and transitions.</a:t>
            </a:r>
          </a:p>
          <a:p>
            <a:pPr algn="just"/>
            <a:r>
              <a:rPr lang="en-US" sz="1600" b="1" dirty="0">
                <a:latin typeface="Times New Roman" panose="02020603050405020304" pitchFamily="18" charset="0"/>
                <a:cs typeface="Times New Roman" panose="02020603050405020304" pitchFamily="18" charset="0"/>
              </a:rPr>
              <a:t>AI-Powered Challenge Generation (Nebula Forge)</a:t>
            </a:r>
            <a:r>
              <a:rPr lang="en-US" sz="1600" dirty="0">
                <a:latin typeface="Times New Roman" panose="02020603050405020304" pitchFamily="18" charset="0"/>
                <a:cs typeface="Times New Roman" panose="02020603050405020304" pitchFamily="18" charset="0"/>
              </a:rPr>
              <a:t>: User prompts flow to the AI to create custom JSON challenges containing templates and test cases saved to MongoDB.</a:t>
            </a:r>
          </a:p>
          <a:p>
            <a:pPr algn="just"/>
            <a:r>
              <a:rPr lang="en-US" sz="1600" b="1" dirty="0">
                <a:latin typeface="Times New Roman" panose="02020603050405020304" pitchFamily="18" charset="0"/>
                <a:cs typeface="Times New Roman" panose="02020603050405020304" pitchFamily="18" charset="0"/>
              </a:rPr>
              <a:t>Zero-Dependency Local RAG Pipeline</a:t>
            </a:r>
            <a:r>
              <a:rPr lang="en-US" sz="1600" dirty="0">
                <a:latin typeface="Times New Roman" panose="02020603050405020304" pitchFamily="18" charset="0"/>
                <a:cs typeface="Times New Roman" panose="02020603050405020304" pitchFamily="18" charset="0"/>
              </a:rPr>
              <a:t>: Uploaded PDF/TXT files are chunked and indexed in an in-memory TF-IDF dictionary. The system uses Cosine Similarity to find relevant chunks and grounds the AI response for mock interview Q&amp;A.</a:t>
            </a:r>
          </a:p>
          <a:p>
            <a:pPr algn="just"/>
            <a:r>
              <a:rPr lang="en-US" sz="1600" b="1" dirty="0">
                <a:latin typeface="Times New Roman" panose="02020603050405020304" pitchFamily="18" charset="0"/>
                <a:cs typeface="Times New Roman" panose="02020603050405020304" pitchFamily="18" charset="0"/>
              </a:rPr>
              <a:t>Gamification and Leveling Engine</a:t>
            </a:r>
            <a:r>
              <a:rPr lang="en-US" sz="1600" dirty="0">
                <a:latin typeface="Times New Roman" panose="02020603050405020304" pitchFamily="18" charset="0"/>
                <a:cs typeface="Times New Roman" panose="02020603050405020304" pitchFamily="18" charset="0"/>
              </a:rPr>
              <a:t>: Challenge completion triggers recalculations of user XP, updates level boundaries, grants achievements, and updates the profile dashboard and leaderboard.</a:t>
            </a:r>
          </a:p>
          <a:p>
            <a:pPr marL="0" indent="0" algn="just">
              <a:buNone/>
            </a:pPr>
            <a:endParaRPr lang="en-IN" sz="1600" dirty="0">
              <a:latin typeface="Times New Roman" panose="02020603050405020304" pitchFamily="18" charset="0"/>
              <a:cs typeface="Times New Roman" panose="02020603050405020304" pitchFamily="18" charset="0"/>
            </a:endParaRPr>
          </a:p>
        </p:txBody>
      </p:sp>
      <p:sp>
        <p:nvSpPr>
          <p:cNvPr id="4" name="object 2">
            <a:extLst>
              <a:ext uri="{FF2B5EF4-FFF2-40B4-BE49-F238E27FC236}">
                <a16:creationId xmlns:a16="http://schemas.microsoft.com/office/drawing/2014/main" id="{D971F82D-F917-46CF-8BA6-87DCE81935E6}"/>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Tree>
    <p:extLst>
      <p:ext uri="{BB962C8B-B14F-4D97-AF65-F5344CB8AC3E}">
        <p14:creationId xmlns:p14="http://schemas.microsoft.com/office/powerpoint/2010/main" val="13209351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Title 1"/>
          <p:cNvSpPr>
            <a:spLocks noGrp="1"/>
          </p:cNvSpPr>
          <p:nvPr>
            <p:ph type="title"/>
          </p:nvPr>
        </p:nvSpPr>
        <p:spPr>
          <a:xfrm>
            <a:off x="838200" y="365125"/>
            <a:ext cx="10515600" cy="721553"/>
          </a:xfrm>
        </p:spPr>
        <p:txBody>
          <a:bodyPr/>
          <a:lstStyle/>
          <a:p>
            <a:r>
              <a:rPr lang="en-IN" dirty="0">
                <a:solidFill>
                  <a:srgbClr val="002060"/>
                </a:solidFill>
              </a:rPr>
              <a:t>3. Architectural Design</a:t>
            </a:r>
            <a:endParaRPr lang="en-IN" dirty="0"/>
          </a:p>
        </p:txBody>
      </p:sp>
      <p:sp>
        <p:nvSpPr>
          <p:cNvPr id="1048604" name="Content Placeholder 2"/>
          <p:cNvSpPr>
            <a:spLocks noGrp="1"/>
          </p:cNvSpPr>
          <p:nvPr>
            <p:ph idx="1"/>
          </p:nvPr>
        </p:nvSpPr>
        <p:spPr>
          <a:xfrm>
            <a:off x="225287" y="1241201"/>
            <a:ext cx="11410122" cy="587599"/>
          </a:xfrm>
        </p:spPr>
        <p:txBody>
          <a:bodyPr>
            <a:noAutofit/>
          </a:bodyPr>
          <a:lstStyle/>
          <a:p>
            <a:pPr marL="457200" lvl="1" indent="0" algn="just">
              <a:buNone/>
            </a:pPr>
            <a:r>
              <a:rPr lang="en-IN" sz="1600" b="1" dirty="0">
                <a:solidFill>
                  <a:srgbClr val="002060"/>
                </a:solidFill>
                <a:latin typeface="Times New Roman" panose="02020603050405020304" pitchFamily="18" charset="0"/>
                <a:cs typeface="Times New Roman" panose="02020603050405020304" pitchFamily="18" charset="0"/>
              </a:rPr>
              <a:t>3.3 </a:t>
            </a:r>
            <a:r>
              <a:rPr lang="en-US" sz="1400" b="1" dirty="0">
                <a:solidFill>
                  <a:srgbClr val="002060"/>
                </a:solidFill>
                <a:latin typeface="Times New Roman" panose="02020603050405020304" pitchFamily="18" charset="0"/>
                <a:cs typeface="Times New Roman" panose="02020603050405020304" pitchFamily="18" charset="0"/>
              </a:rPr>
              <a:t>Project Architecture</a:t>
            </a:r>
          </a:p>
          <a:p>
            <a:pPr marL="457200" lvl="1" indent="0" algn="just">
              <a:buNone/>
            </a:pPr>
            <a:r>
              <a:rPr lang="en-US" sz="1400" b="1" dirty="0">
                <a:solidFill>
                  <a:srgbClr val="002060"/>
                </a:solidFill>
                <a:latin typeface="Times New Roman" panose="02020603050405020304" pitchFamily="18" charset="0"/>
                <a:cs typeface="Times New Roman" panose="02020603050405020304" pitchFamily="18" charset="0"/>
              </a:rPr>
              <a:t>	3.3.3 Class Diagram</a:t>
            </a:r>
            <a:endParaRPr lang="en-IN" sz="1400" b="1" dirty="0">
              <a:solidFill>
                <a:srgbClr val="002060"/>
              </a:solidFill>
              <a:latin typeface="Times New Roman" panose="02020603050405020304" pitchFamily="18" charset="0"/>
              <a:cs typeface="Times New Roman" panose="02020603050405020304" pitchFamily="18" charset="0"/>
            </a:endParaRPr>
          </a:p>
        </p:txBody>
      </p:sp>
      <p:sp>
        <p:nvSpPr>
          <p:cNvPr id="1048605" name="object 2"/>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pic>
        <p:nvPicPr>
          <p:cNvPr id="3" name="Picture 2">
            <a:extLst>
              <a:ext uri="{FF2B5EF4-FFF2-40B4-BE49-F238E27FC236}">
                <a16:creationId xmlns:a16="http://schemas.microsoft.com/office/drawing/2014/main" id="{27F3C089-9B79-FD70-69E9-71E41812B901}"/>
              </a:ext>
            </a:extLst>
          </p:cNvPr>
          <p:cNvPicPr>
            <a:picLocks noChangeAspect="1"/>
          </p:cNvPicPr>
          <p:nvPr/>
        </p:nvPicPr>
        <p:blipFill>
          <a:blip r:embed="rId2"/>
          <a:stretch>
            <a:fillRect/>
          </a:stretch>
        </p:blipFill>
        <p:spPr>
          <a:xfrm>
            <a:off x="2883160" y="1017037"/>
            <a:ext cx="9083554" cy="5607698"/>
          </a:xfrm>
          <a:prstGeom prst="rect">
            <a:avLst/>
          </a:prstGeom>
        </p:spPr>
      </p:pic>
    </p:spTree>
    <p:extLst>
      <p:ext uri="{BB962C8B-B14F-4D97-AF65-F5344CB8AC3E}">
        <p14:creationId xmlns:p14="http://schemas.microsoft.com/office/powerpoint/2010/main" val="39654198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00D1D-0381-45CF-9ADE-9C274B6E65E6}"/>
              </a:ext>
            </a:extLst>
          </p:cNvPr>
          <p:cNvSpPr>
            <a:spLocks noGrp="1"/>
          </p:cNvSpPr>
          <p:nvPr>
            <p:ph type="title"/>
          </p:nvPr>
        </p:nvSpPr>
        <p:spPr>
          <a:xfrm>
            <a:off x="838200" y="455168"/>
            <a:ext cx="10515600" cy="451737"/>
          </a:xfrm>
        </p:spPr>
        <p:txBody>
          <a:bodyPr>
            <a:normAutofit fontScale="90000"/>
          </a:bodyPr>
          <a:lstStyle/>
          <a:p>
            <a:r>
              <a:rPr lang="en-US" sz="4000" dirty="0">
                <a:solidFill>
                  <a:schemeClr val="accent1">
                    <a:lumMod val="50000"/>
                  </a:schemeClr>
                </a:solidFill>
                <a:latin typeface="Times New Roman" panose="02020603050405020304" pitchFamily="18" charset="0"/>
                <a:cs typeface="Times New Roman" panose="02020603050405020304" pitchFamily="18" charset="0"/>
              </a:rPr>
              <a:t>Class Diagram:</a:t>
            </a:r>
            <a:endParaRPr lang="en-IN" sz="40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437756F-EEC9-4211-9B59-E3B5CF36456D}"/>
              </a:ext>
            </a:extLst>
          </p:cNvPr>
          <p:cNvSpPr>
            <a:spLocks noGrp="1"/>
          </p:cNvSpPr>
          <p:nvPr>
            <p:ph idx="1"/>
          </p:nvPr>
        </p:nvSpPr>
        <p:spPr>
          <a:xfrm>
            <a:off x="836548" y="1189519"/>
            <a:ext cx="10515600" cy="5012497"/>
          </a:xfrm>
        </p:spPr>
        <p:txBody>
          <a:bodyPr>
            <a:normAutofit/>
          </a:bodyPr>
          <a:lstStyle/>
          <a:p>
            <a:r>
              <a:rPr lang="en-US" sz="1600" b="1" dirty="0">
                <a:latin typeface="Times New Roman" panose="02020603050405020304" pitchFamily="18" charset="0"/>
                <a:cs typeface="Times New Roman" panose="02020603050405020304" pitchFamily="18" charset="0"/>
              </a:rPr>
              <a:t>User Schema</a:t>
            </a:r>
            <a:r>
              <a:rPr lang="en-US" sz="1600" dirty="0">
                <a:latin typeface="Times New Roman" panose="02020603050405020304" pitchFamily="18" charset="0"/>
                <a:cs typeface="Times New Roman" panose="02020603050405020304" pitchFamily="18" charset="0"/>
              </a:rPr>
              <a:t>: The User model stores authentication credentials, learning preferences, streaks, and a map of topic-wise skill levels.</a:t>
            </a:r>
          </a:p>
          <a:p>
            <a:r>
              <a:rPr lang="en-US" sz="1600" b="1" dirty="0" err="1">
                <a:latin typeface="Times New Roman" panose="02020603050405020304" pitchFamily="18" charset="0"/>
                <a:cs typeface="Times New Roman" panose="02020603050405020304" pitchFamily="18" charset="0"/>
              </a:rPr>
              <a:t>UserProgress</a:t>
            </a:r>
            <a:r>
              <a:rPr lang="en-US" sz="1600" b="1" dirty="0">
                <a:latin typeface="Times New Roman" panose="02020603050405020304" pitchFamily="18" charset="0"/>
                <a:cs typeface="Times New Roman" panose="02020603050405020304" pitchFamily="18" charset="0"/>
              </a:rPr>
              <a:t> Schema</a:t>
            </a:r>
            <a:r>
              <a:rPr lang="en-US" sz="1600" dirty="0">
                <a:latin typeface="Times New Roman" panose="02020603050405020304" pitchFamily="18" charset="0"/>
                <a:cs typeface="Times New Roman" panose="02020603050405020304" pitchFamily="18" charset="0"/>
              </a:rPr>
              <a:t>: The </a:t>
            </a:r>
            <a:r>
              <a:rPr lang="en-US" sz="1600" dirty="0" err="1">
                <a:latin typeface="Times New Roman" panose="02020603050405020304" pitchFamily="18" charset="0"/>
                <a:cs typeface="Times New Roman" panose="02020603050405020304" pitchFamily="18" charset="0"/>
              </a:rPr>
              <a:t>UserProgress</a:t>
            </a:r>
            <a:r>
              <a:rPr lang="en-US" sz="1600" dirty="0">
                <a:latin typeface="Times New Roman" panose="02020603050405020304" pitchFamily="18" charset="0"/>
                <a:cs typeface="Times New Roman" panose="02020603050405020304" pitchFamily="18" charset="0"/>
              </a:rPr>
              <a:t> class links directly to a single User to track their accumulated experience points (XP), current streak, and badges.</a:t>
            </a:r>
          </a:p>
          <a:p>
            <a:r>
              <a:rPr lang="en-US" sz="1600" b="1" dirty="0" err="1">
                <a:latin typeface="Times New Roman" panose="02020603050405020304" pitchFamily="18" charset="0"/>
                <a:cs typeface="Times New Roman" panose="02020603050405020304" pitchFamily="18" charset="0"/>
              </a:rPr>
              <a:t>LearningPath</a:t>
            </a:r>
            <a:r>
              <a:rPr lang="en-US" sz="1600" b="1" dirty="0">
                <a:latin typeface="Times New Roman" panose="02020603050405020304" pitchFamily="18" charset="0"/>
                <a:cs typeface="Times New Roman" panose="02020603050405020304" pitchFamily="18" charset="0"/>
              </a:rPr>
              <a:t> Schema</a:t>
            </a:r>
            <a:r>
              <a:rPr lang="en-US" sz="1600" dirty="0">
                <a:latin typeface="Times New Roman" panose="02020603050405020304" pitchFamily="18" charset="0"/>
                <a:cs typeface="Times New Roman" panose="02020603050405020304" pitchFamily="18" charset="0"/>
              </a:rPr>
              <a:t>: The </a:t>
            </a:r>
            <a:r>
              <a:rPr lang="en-US" sz="1600" dirty="0" err="1">
                <a:latin typeface="Times New Roman" panose="02020603050405020304" pitchFamily="18" charset="0"/>
                <a:cs typeface="Times New Roman" panose="02020603050405020304" pitchFamily="18" charset="0"/>
              </a:rPr>
              <a:t>LearningPath</a:t>
            </a:r>
            <a:r>
              <a:rPr lang="en-US" sz="1600" dirty="0">
                <a:latin typeface="Times New Roman" panose="02020603050405020304" pitchFamily="18" charset="0"/>
                <a:cs typeface="Times New Roman" panose="02020603050405020304" pitchFamily="18" charset="0"/>
              </a:rPr>
              <a:t> class manages a collection of skill nodes assigned to a user, storing progress logs and remedial adjustments.</a:t>
            </a:r>
          </a:p>
          <a:p>
            <a:r>
              <a:rPr lang="en-US" sz="1600" b="1" dirty="0" err="1">
                <a:latin typeface="Times New Roman" panose="02020603050405020304" pitchFamily="18" charset="0"/>
                <a:cs typeface="Times New Roman" panose="02020603050405020304" pitchFamily="18" charset="0"/>
              </a:rPr>
              <a:t>SkillNode</a:t>
            </a:r>
            <a:r>
              <a:rPr lang="en-US" sz="1600" b="1" dirty="0">
                <a:latin typeface="Times New Roman" panose="02020603050405020304" pitchFamily="18" charset="0"/>
                <a:cs typeface="Times New Roman" panose="02020603050405020304" pitchFamily="18" charset="0"/>
              </a:rPr>
              <a:t> Schema</a:t>
            </a:r>
            <a:r>
              <a:rPr lang="en-US" sz="1600" dirty="0">
                <a:latin typeface="Times New Roman" panose="02020603050405020304" pitchFamily="18" charset="0"/>
                <a:cs typeface="Times New Roman" panose="02020603050405020304" pitchFamily="18" charset="0"/>
              </a:rPr>
              <a:t>: The </a:t>
            </a:r>
            <a:r>
              <a:rPr lang="en-US" sz="1600" dirty="0" err="1">
                <a:latin typeface="Times New Roman" panose="02020603050405020304" pitchFamily="18" charset="0"/>
                <a:cs typeface="Times New Roman" panose="02020603050405020304" pitchFamily="18" charset="0"/>
              </a:rPr>
              <a:t>SkillNode</a:t>
            </a:r>
            <a:r>
              <a:rPr lang="en-US" sz="1600" dirty="0">
                <a:latin typeface="Times New Roman" panose="02020603050405020304" pitchFamily="18" charset="0"/>
                <a:cs typeface="Times New Roman" panose="02020603050405020304" pitchFamily="18" charset="0"/>
              </a:rPr>
              <a:t> model defines modular nodes containing categories, difficulty classifications, prerequisites, and metadata.</a:t>
            </a:r>
          </a:p>
          <a:p>
            <a:r>
              <a:rPr lang="en-US" sz="1600" b="1" dirty="0">
                <a:latin typeface="Times New Roman" panose="02020603050405020304" pitchFamily="18" charset="0"/>
                <a:cs typeface="Times New Roman" panose="02020603050405020304" pitchFamily="18" charset="0"/>
              </a:rPr>
              <a:t>Challenge Schema</a:t>
            </a:r>
            <a:r>
              <a:rPr lang="en-US" sz="1600" dirty="0">
                <a:latin typeface="Times New Roman" panose="02020603050405020304" pitchFamily="18" charset="0"/>
                <a:cs typeface="Times New Roman" panose="02020603050405020304" pitchFamily="18" charset="0"/>
              </a:rPr>
              <a:t>: The Challenge class encapsulates program templates, instructions, XP rewards, and input/output assertions for code verification.</a:t>
            </a:r>
          </a:p>
          <a:p>
            <a:r>
              <a:rPr lang="en-US" sz="1600" b="1" dirty="0">
                <a:latin typeface="Times New Roman" panose="02020603050405020304" pitchFamily="18" charset="0"/>
                <a:cs typeface="Times New Roman" panose="02020603050405020304" pitchFamily="18" charset="0"/>
              </a:rPr>
              <a:t>Badge Schema</a:t>
            </a:r>
            <a:r>
              <a:rPr lang="en-US" sz="1600" dirty="0">
                <a:latin typeface="Times New Roman" panose="02020603050405020304" pitchFamily="18" charset="0"/>
                <a:cs typeface="Times New Roman" panose="02020603050405020304" pitchFamily="18" charset="0"/>
              </a:rPr>
              <a:t>: The Badge model represents unlocked rewards, including titles, description criteria, icon locations, and requirements.</a:t>
            </a:r>
          </a:p>
          <a:p>
            <a:r>
              <a:rPr lang="en-US" sz="1600" b="1" dirty="0">
                <a:latin typeface="Times New Roman" panose="02020603050405020304" pitchFamily="18" charset="0"/>
                <a:cs typeface="Times New Roman" panose="02020603050405020304" pitchFamily="18" charset="0"/>
              </a:rPr>
              <a:t>Entity Associations</a:t>
            </a:r>
            <a:r>
              <a:rPr lang="en-US" sz="1600" dirty="0">
                <a:latin typeface="Times New Roman" panose="02020603050405020304" pitchFamily="18" charset="0"/>
                <a:cs typeface="Times New Roman" panose="02020603050405020304" pitchFamily="18" charset="0"/>
              </a:rPr>
              <a:t>: The database references associate users to their paths, link progress logs to completed challenges, and map prerequisite skill trees.</a:t>
            </a:r>
          </a:p>
        </p:txBody>
      </p:sp>
      <p:sp>
        <p:nvSpPr>
          <p:cNvPr id="4" name="object 2">
            <a:extLst>
              <a:ext uri="{FF2B5EF4-FFF2-40B4-BE49-F238E27FC236}">
                <a16:creationId xmlns:a16="http://schemas.microsoft.com/office/drawing/2014/main" id="{D971F82D-F917-46CF-8BA6-87DCE81935E6}"/>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Tree>
    <p:extLst>
      <p:ext uri="{BB962C8B-B14F-4D97-AF65-F5344CB8AC3E}">
        <p14:creationId xmlns:p14="http://schemas.microsoft.com/office/powerpoint/2010/main" val="42669227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Title 1"/>
          <p:cNvSpPr>
            <a:spLocks noGrp="1"/>
          </p:cNvSpPr>
          <p:nvPr>
            <p:ph type="title"/>
          </p:nvPr>
        </p:nvSpPr>
        <p:spPr>
          <a:xfrm>
            <a:off x="838200" y="365125"/>
            <a:ext cx="10515600" cy="721553"/>
          </a:xfrm>
        </p:spPr>
        <p:txBody>
          <a:bodyPr/>
          <a:lstStyle/>
          <a:p>
            <a:r>
              <a:rPr lang="en-IN" dirty="0">
                <a:solidFill>
                  <a:srgbClr val="002060"/>
                </a:solidFill>
              </a:rPr>
              <a:t>3. Architectural Design</a:t>
            </a:r>
            <a:endParaRPr lang="en-IN" dirty="0"/>
          </a:p>
        </p:txBody>
      </p:sp>
      <p:sp>
        <p:nvSpPr>
          <p:cNvPr id="1048604" name="Content Placeholder 2"/>
          <p:cNvSpPr>
            <a:spLocks noGrp="1"/>
          </p:cNvSpPr>
          <p:nvPr>
            <p:ph idx="1"/>
          </p:nvPr>
        </p:nvSpPr>
        <p:spPr>
          <a:xfrm>
            <a:off x="238539" y="1241201"/>
            <a:ext cx="11410122" cy="587599"/>
          </a:xfrm>
        </p:spPr>
        <p:txBody>
          <a:bodyPr>
            <a:noAutofit/>
          </a:bodyPr>
          <a:lstStyle/>
          <a:p>
            <a:pPr marL="457200" lvl="1" indent="0" algn="just">
              <a:buNone/>
            </a:pPr>
            <a:r>
              <a:rPr lang="en-IN" sz="1600" b="1" dirty="0">
                <a:solidFill>
                  <a:srgbClr val="002060"/>
                </a:solidFill>
                <a:latin typeface="Times New Roman" panose="02020603050405020304" pitchFamily="18" charset="0"/>
                <a:cs typeface="Times New Roman" panose="02020603050405020304" pitchFamily="18" charset="0"/>
              </a:rPr>
              <a:t>3.3 </a:t>
            </a:r>
            <a:r>
              <a:rPr lang="en-US" sz="1400" b="1" dirty="0">
                <a:solidFill>
                  <a:srgbClr val="002060"/>
                </a:solidFill>
                <a:latin typeface="Times New Roman" panose="02020603050405020304" pitchFamily="18" charset="0"/>
                <a:cs typeface="Times New Roman" panose="02020603050405020304" pitchFamily="18" charset="0"/>
              </a:rPr>
              <a:t>Project Architecture</a:t>
            </a:r>
          </a:p>
          <a:p>
            <a:pPr marL="457200" lvl="1" indent="0" algn="just">
              <a:buNone/>
            </a:pPr>
            <a:r>
              <a:rPr lang="en-US" sz="1400" b="1" dirty="0">
                <a:solidFill>
                  <a:srgbClr val="002060"/>
                </a:solidFill>
                <a:latin typeface="Times New Roman" panose="02020603050405020304" pitchFamily="18" charset="0"/>
                <a:cs typeface="Times New Roman" panose="02020603050405020304" pitchFamily="18" charset="0"/>
              </a:rPr>
              <a:t>	3.3.4 Use Case Diagram</a:t>
            </a:r>
            <a:endParaRPr lang="en-IN" sz="1400" b="1" dirty="0">
              <a:solidFill>
                <a:srgbClr val="002060"/>
              </a:solidFill>
              <a:latin typeface="Times New Roman" panose="02020603050405020304" pitchFamily="18" charset="0"/>
              <a:cs typeface="Times New Roman" panose="02020603050405020304" pitchFamily="18" charset="0"/>
            </a:endParaRPr>
          </a:p>
        </p:txBody>
      </p:sp>
      <p:sp>
        <p:nvSpPr>
          <p:cNvPr id="1048605" name="object 2"/>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pic>
        <p:nvPicPr>
          <p:cNvPr id="3" name="Picture 2">
            <a:extLst>
              <a:ext uri="{FF2B5EF4-FFF2-40B4-BE49-F238E27FC236}">
                <a16:creationId xmlns:a16="http://schemas.microsoft.com/office/drawing/2014/main" id="{57BEF7EF-9BA3-A5A2-A0AF-B8A53F95A847}"/>
              </a:ext>
            </a:extLst>
          </p:cNvPr>
          <p:cNvPicPr>
            <a:picLocks noChangeAspect="1"/>
          </p:cNvPicPr>
          <p:nvPr/>
        </p:nvPicPr>
        <p:blipFill>
          <a:blip r:embed="rId2"/>
          <a:stretch>
            <a:fillRect/>
          </a:stretch>
        </p:blipFill>
        <p:spPr>
          <a:xfrm>
            <a:off x="286230" y="1828799"/>
            <a:ext cx="11667231" cy="4664075"/>
          </a:xfrm>
          <a:prstGeom prst="rect">
            <a:avLst/>
          </a:prstGeom>
        </p:spPr>
      </p:pic>
    </p:spTree>
    <p:extLst>
      <p:ext uri="{BB962C8B-B14F-4D97-AF65-F5344CB8AC3E}">
        <p14:creationId xmlns:p14="http://schemas.microsoft.com/office/powerpoint/2010/main" val="22891192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00D1D-0381-45CF-9ADE-9C274B6E65E6}"/>
              </a:ext>
            </a:extLst>
          </p:cNvPr>
          <p:cNvSpPr>
            <a:spLocks noGrp="1"/>
          </p:cNvSpPr>
          <p:nvPr>
            <p:ph type="title"/>
          </p:nvPr>
        </p:nvSpPr>
        <p:spPr>
          <a:xfrm>
            <a:off x="838200" y="455168"/>
            <a:ext cx="10515600" cy="451737"/>
          </a:xfrm>
        </p:spPr>
        <p:txBody>
          <a:bodyPr>
            <a:normAutofit fontScale="90000"/>
          </a:bodyPr>
          <a:lstStyle/>
          <a:p>
            <a:r>
              <a:rPr lang="en-US" sz="4000" dirty="0">
                <a:solidFill>
                  <a:schemeClr val="accent1">
                    <a:lumMod val="50000"/>
                  </a:schemeClr>
                </a:solidFill>
                <a:latin typeface="Times New Roman" panose="02020603050405020304" pitchFamily="18" charset="0"/>
                <a:cs typeface="Times New Roman" panose="02020603050405020304" pitchFamily="18" charset="0"/>
              </a:rPr>
              <a:t>Use Case Diagram:</a:t>
            </a:r>
            <a:endParaRPr lang="en-IN" sz="40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437756F-EEC9-4211-9B59-E3B5CF36456D}"/>
              </a:ext>
            </a:extLst>
          </p:cNvPr>
          <p:cNvSpPr>
            <a:spLocks noGrp="1"/>
          </p:cNvSpPr>
          <p:nvPr>
            <p:ph idx="1"/>
          </p:nvPr>
        </p:nvSpPr>
        <p:spPr>
          <a:xfrm>
            <a:off x="836548" y="1189519"/>
            <a:ext cx="10515600" cy="5012497"/>
          </a:xfrm>
        </p:spPr>
        <p:txBody>
          <a:bodyPr>
            <a:normAutofit/>
          </a:bodyPr>
          <a:lstStyle/>
          <a:p>
            <a:pPr algn="just"/>
            <a:r>
              <a:rPr lang="en-US" sz="1600" b="1" dirty="0">
                <a:latin typeface="Times New Roman" panose="02020603050405020304" pitchFamily="18" charset="0"/>
                <a:cs typeface="Times New Roman" panose="02020603050405020304" pitchFamily="18" charset="0"/>
              </a:rPr>
              <a:t>Interactive Onboarding</a:t>
            </a:r>
            <a:r>
              <a:rPr lang="en-US" sz="1600" dirty="0">
                <a:latin typeface="Times New Roman" panose="02020603050405020304" pitchFamily="18" charset="0"/>
                <a:cs typeface="Times New Roman" panose="02020603050405020304" pitchFamily="18" charset="0"/>
              </a:rPr>
              <a:t>: The Learner completes a questionnaire, prompting the AI Agent System to build a tailored skill syllabus.</a:t>
            </a:r>
          </a:p>
          <a:p>
            <a:pPr algn="just"/>
            <a:r>
              <a:rPr lang="en-US" sz="1600" b="1" dirty="0">
                <a:latin typeface="Times New Roman" panose="02020603050405020304" pitchFamily="18" charset="0"/>
                <a:cs typeface="Times New Roman" panose="02020603050405020304" pitchFamily="18" charset="0"/>
              </a:rPr>
              <a:t>Standard Sandbox Code Execution</a:t>
            </a:r>
            <a:r>
              <a:rPr lang="en-US" sz="1600" dirty="0">
                <a:latin typeface="Times New Roman" panose="02020603050405020304" pitchFamily="18" charset="0"/>
                <a:cs typeface="Times New Roman" panose="02020603050405020304" pitchFamily="18" charset="0"/>
              </a:rPr>
              <a:t>: The Learner compiles and executes code inside the Local Sandbox to test standard program outcomes.</a:t>
            </a:r>
          </a:p>
          <a:p>
            <a:pPr algn="just"/>
            <a:r>
              <a:rPr lang="en-US" sz="1600" b="1" dirty="0">
                <a:latin typeface="Times New Roman" panose="02020603050405020304" pitchFamily="18" charset="0"/>
                <a:cs typeface="Times New Roman" panose="02020603050405020304" pitchFamily="18" charset="0"/>
              </a:rPr>
              <a:t>Extendable Code Repair</a:t>
            </a:r>
            <a:r>
              <a:rPr lang="en-US" sz="1600" dirty="0">
                <a:latin typeface="Times New Roman" panose="02020603050405020304" pitchFamily="18" charset="0"/>
                <a:cs typeface="Times New Roman" panose="02020603050405020304" pitchFamily="18" charset="0"/>
              </a:rPr>
              <a:t>: The code execution process extends to trigger the AI Agent System when compilation warnings or execution errors occur.</a:t>
            </a:r>
          </a:p>
          <a:p>
            <a:pPr algn="just"/>
            <a:r>
              <a:rPr lang="en-US" sz="1600" b="1" dirty="0">
                <a:latin typeface="Times New Roman" panose="02020603050405020304" pitchFamily="18" charset="0"/>
                <a:cs typeface="Times New Roman" panose="02020603050405020304" pitchFamily="18" charset="0"/>
              </a:rPr>
              <a:t>Logic Step Visualization</a:t>
            </a:r>
            <a:r>
              <a:rPr lang="en-US" sz="1600" dirty="0">
                <a:latin typeface="Times New Roman" panose="02020603050405020304" pitchFamily="18" charset="0"/>
                <a:cs typeface="Times New Roman" panose="02020603050405020304" pitchFamily="18" charset="0"/>
              </a:rPr>
              <a:t>: The visualizer maps raw execution traces to show step-by-step array transitions, binary search indices, or recursion branches.</a:t>
            </a:r>
          </a:p>
          <a:p>
            <a:pPr algn="just"/>
            <a:r>
              <a:rPr lang="en-US" sz="1600" b="1" dirty="0">
                <a:latin typeface="Times New Roman" panose="02020603050405020304" pitchFamily="18" charset="0"/>
                <a:cs typeface="Times New Roman" panose="02020603050405020304" pitchFamily="18" charset="0"/>
              </a:rPr>
              <a:t>On-Demand Challenge Forging</a:t>
            </a:r>
            <a:r>
              <a:rPr lang="en-US" sz="1600" dirty="0">
                <a:latin typeface="Times New Roman" panose="02020603050405020304" pitchFamily="18" charset="0"/>
                <a:cs typeface="Times New Roman" panose="02020603050405020304" pitchFamily="18" charset="0"/>
              </a:rPr>
              <a:t>: The Learner prompts the AI Agent System to create personalized challenges, including instructions, boilerplates, and verification assays.</a:t>
            </a:r>
          </a:p>
          <a:p>
            <a:pPr algn="just"/>
            <a:r>
              <a:rPr lang="en-US" sz="1600" b="1" dirty="0">
                <a:latin typeface="Times New Roman" panose="02020603050405020304" pitchFamily="18" charset="0"/>
                <a:cs typeface="Times New Roman" panose="02020603050405020304" pitchFamily="18" charset="0"/>
              </a:rPr>
              <a:t>Simulated Interview Preparation</a:t>
            </a:r>
            <a:r>
              <a:rPr lang="en-US" sz="1600" dirty="0">
                <a:latin typeface="Times New Roman" panose="02020603050405020304" pitchFamily="18" charset="0"/>
                <a:cs typeface="Times New Roman" panose="02020603050405020304" pitchFamily="18" charset="0"/>
              </a:rPr>
              <a:t>: The Learner interacts with virtual interviewers to answer technical/behavioral questions backed by a local document RAG retriever.</a:t>
            </a:r>
          </a:p>
          <a:p>
            <a:pPr algn="just"/>
            <a:r>
              <a:rPr lang="en-US" sz="1600" b="1" dirty="0">
                <a:latin typeface="Times New Roman" panose="02020603050405020304" pitchFamily="18" charset="0"/>
                <a:cs typeface="Times New Roman" panose="02020603050405020304" pitchFamily="18" charset="0"/>
              </a:rPr>
              <a:t>Educational System Monitoring</a:t>
            </a:r>
            <a:r>
              <a:rPr lang="en-US" sz="1600" dirty="0">
                <a:latin typeface="Times New Roman" panose="02020603050405020304" pitchFamily="18" charset="0"/>
                <a:cs typeface="Times New Roman" panose="02020603050405020304" pitchFamily="18" charset="0"/>
              </a:rPr>
              <a:t>: The Teacher monitors student progression rates, performance statistics, and levels through a structured supervisor dashboard.</a:t>
            </a:r>
          </a:p>
        </p:txBody>
      </p:sp>
      <p:sp>
        <p:nvSpPr>
          <p:cNvPr id="4" name="object 2">
            <a:extLst>
              <a:ext uri="{FF2B5EF4-FFF2-40B4-BE49-F238E27FC236}">
                <a16:creationId xmlns:a16="http://schemas.microsoft.com/office/drawing/2014/main" id="{D971F82D-F917-46CF-8BA6-87DCE81935E6}"/>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Tree>
    <p:extLst>
      <p:ext uri="{BB962C8B-B14F-4D97-AF65-F5344CB8AC3E}">
        <p14:creationId xmlns:p14="http://schemas.microsoft.com/office/powerpoint/2010/main" val="21064828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Title 1"/>
          <p:cNvSpPr>
            <a:spLocks noGrp="1"/>
          </p:cNvSpPr>
          <p:nvPr>
            <p:ph type="title"/>
          </p:nvPr>
        </p:nvSpPr>
        <p:spPr>
          <a:xfrm>
            <a:off x="838200" y="365125"/>
            <a:ext cx="10515600" cy="721553"/>
          </a:xfrm>
        </p:spPr>
        <p:txBody>
          <a:bodyPr/>
          <a:lstStyle/>
          <a:p>
            <a:r>
              <a:rPr lang="en-IN" dirty="0">
                <a:solidFill>
                  <a:srgbClr val="002060"/>
                </a:solidFill>
              </a:rPr>
              <a:t>3. Architectural Design</a:t>
            </a:r>
            <a:endParaRPr lang="en-IN" dirty="0"/>
          </a:p>
        </p:txBody>
      </p:sp>
      <p:sp>
        <p:nvSpPr>
          <p:cNvPr id="1048604" name="Content Placeholder 2"/>
          <p:cNvSpPr>
            <a:spLocks noGrp="1"/>
          </p:cNvSpPr>
          <p:nvPr>
            <p:ph idx="1"/>
          </p:nvPr>
        </p:nvSpPr>
        <p:spPr>
          <a:xfrm>
            <a:off x="238539" y="1241201"/>
            <a:ext cx="11410122" cy="587599"/>
          </a:xfrm>
        </p:spPr>
        <p:txBody>
          <a:bodyPr>
            <a:noAutofit/>
          </a:bodyPr>
          <a:lstStyle/>
          <a:p>
            <a:pPr marL="457200" lvl="1" indent="0" algn="just">
              <a:buNone/>
            </a:pPr>
            <a:r>
              <a:rPr lang="en-IN" sz="1600" b="1" dirty="0">
                <a:solidFill>
                  <a:srgbClr val="002060"/>
                </a:solidFill>
                <a:latin typeface="Times New Roman" panose="02020603050405020304" pitchFamily="18" charset="0"/>
                <a:cs typeface="Times New Roman" panose="02020603050405020304" pitchFamily="18" charset="0"/>
              </a:rPr>
              <a:t>3.3 </a:t>
            </a:r>
            <a:r>
              <a:rPr lang="en-US" sz="1400" b="1" dirty="0">
                <a:solidFill>
                  <a:srgbClr val="002060"/>
                </a:solidFill>
                <a:latin typeface="Times New Roman" panose="02020603050405020304" pitchFamily="18" charset="0"/>
                <a:cs typeface="Times New Roman" panose="02020603050405020304" pitchFamily="18" charset="0"/>
              </a:rPr>
              <a:t>Project Architecture</a:t>
            </a:r>
          </a:p>
          <a:p>
            <a:pPr marL="457200" lvl="1" indent="0" algn="just">
              <a:buNone/>
            </a:pPr>
            <a:r>
              <a:rPr lang="en-US" sz="1400" b="1" dirty="0">
                <a:solidFill>
                  <a:srgbClr val="002060"/>
                </a:solidFill>
                <a:latin typeface="Times New Roman" panose="02020603050405020304" pitchFamily="18" charset="0"/>
                <a:cs typeface="Times New Roman" panose="02020603050405020304" pitchFamily="18" charset="0"/>
              </a:rPr>
              <a:t>	3.3.5 Sequence Diagram</a:t>
            </a:r>
            <a:endParaRPr lang="en-IN" sz="1400" b="1" dirty="0">
              <a:solidFill>
                <a:srgbClr val="002060"/>
              </a:solidFill>
              <a:latin typeface="Times New Roman" panose="02020603050405020304" pitchFamily="18" charset="0"/>
              <a:cs typeface="Times New Roman" panose="02020603050405020304" pitchFamily="18" charset="0"/>
            </a:endParaRPr>
          </a:p>
        </p:txBody>
      </p:sp>
      <p:sp>
        <p:nvSpPr>
          <p:cNvPr id="1048605" name="object 2"/>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pic>
        <p:nvPicPr>
          <p:cNvPr id="3" name="Picture 2">
            <a:extLst>
              <a:ext uri="{FF2B5EF4-FFF2-40B4-BE49-F238E27FC236}">
                <a16:creationId xmlns:a16="http://schemas.microsoft.com/office/drawing/2014/main" id="{6A94B182-E229-98DD-A71F-DB7857ADF3D2}"/>
              </a:ext>
            </a:extLst>
          </p:cNvPr>
          <p:cNvPicPr>
            <a:picLocks noChangeAspect="1"/>
          </p:cNvPicPr>
          <p:nvPr/>
        </p:nvPicPr>
        <p:blipFill>
          <a:blip r:embed="rId2"/>
          <a:stretch>
            <a:fillRect/>
          </a:stretch>
        </p:blipFill>
        <p:spPr>
          <a:xfrm>
            <a:off x="838200" y="1912776"/>
            <a:ext cx="10455546" cy="4580099"/>
          </a:xfrm>
          <a:prstGeom prst="rect">
            <a:avLst/>
          </a:prstGeom>
        </p:spPr>
      </p:pic>
    </p:spTree>
    <p:extLst>
      <p:ext uri="{BB962C8B-B14F-4D97-AF65-F5344CB8AC3E}">
        <p14:creationId xmlns:p14="http://schemas.microsoft.com/office/powerpoint/2010/main" val="4633195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00D1D-0381-45CF-9ADE-9C274B6E65E6}"/>
              </a:ext>
            </a:extLst>
          </p:cNvPr>
          <p:cNvSpPr>
            <a:spLocks noGrp="1"/>
          </p:cNvSpPr>
          <p:nvPr>
            <p:ph type="title"/>
          </p:nvPr>
        </p:nvSpPr>
        <p:spPr>
          <a:xfrm>
            <a:off x="838200" y="455168"/>
            <a:ext cx="10515600" cy="451737"/>
          </a:xfrm>
        </p:spPr>
        <p:txBody>
          <a:bodyPr>
            <a:normAutofit fontScale="90000"/>
          </a:bodyPr>
          <a:lstStyle/>
          <a:p>
            <a:r>
              <a:rPr lang="en-US" sz="4000" dirty="0">
                <a:solidFill>
                  <a:schemeClr val="accent1">
                    <a:lumMod val="50000"/>
                  </a:schemeClr>
                </a:solidFill>
                <a:latin typeface="Times New Roman" panose="02020603050405020304" pitchFamily="18" charset="0"/>
                <a:cs typeface="Times New Roman" panose="02020603050405020304" pitchFamily="18" charset="0"/>
              </a:rPr>
              <a:t>Sequence Diagram:</a:t>
            </a:r>
            <a:endParaRPr lang="en-IN" sz="40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437756F-EEC9-4211-9B59-E3B5CF36456D}"/>
              </a:ext>
            </a:extLst>
          </p:cNvPr>
          <p:cNvSpPr>
            <a:spLocks noGrp="1"/>
          </p:cNvSpPr>
          <p:nvPr>
            <p:ph idx="1"/>
          </p:nvPr>
        </p:nvSpPr>
        <p:spPr>
          <a:xfrm>
            <a:off x="836548" y="1189519"/>
            <a:ext cx="10515600" cy="4492823"/>
          </a:xfrm>
        </p:spPr>
        <p:txBody>
          <a:bodyPr>
            <a:noAutofit/>
          </a:bodyPr>
          <a:lstStyle/>
          <a:p>
            <a:r>
              <a:rPr lang="en-US" sz="1600" b="1" dirty="0">
                <a:latin typeface="Times New Roman" panose="02020603050405020304" pitchFamily="18" charset="0"/>
                <a:cs typeface="Times New Roman" panose="02020603050405020304" pitchFamily="18" charset="0"/>
              </a:rPr>
              <a:t>Submission Phase</a:t>
            </a:r>
            <a:r>
              <a:rPr lang="en-US" sz="1600" dirty="0">
                <a:latin typeface="Times New Roman" panose="02020603050405020304" pitchFamily="18" charset="0"/>
                <a:cs typeface="Times New Roman" panose="02020603050405020304" pitchFamily="18" charset="0"/>
              </a:rPr>
              <a:t>: The Learner triggers code submission from the Monaco Editor, transmitting code and language settings to the server.</a:t>
            </a:r>
          </a:p>
          <a:p>
            <a:r>
              <a:rPr lang="en-US" sz="1600" b="1" dirty="0">
                <a:latin typeface="Times New Roman" panose="02020603050405020304" pitchFamily="18" charset="0"/>
                <a:cs typeface="Times New Roman" panose="02020603050405020304" pitchFamily="18" charset="0"/>
              </a:rPr>
              <a:t>Sandbox Ingestion</a:t>
            </a:r>
            <a:r>
              <a:rPr lang="en-US" sz="1600" dirty="0">
                <a:latin typeface="Times New Roman" panose="02020603050405020304" pitchFamily="18" charset="0"/>
                <a:cs typeface="Times New Roman" panose="02020603050405020304" pitchFamily="18" charset="0"/>
              </a:rPr>
              <a:t>: The Backend API maps the code into temporary system files and launches compiler shells (e.g. GCC, Python, or Java) asynchronously.</a:t>
            </a:r>
          </a:p>
          <a:p>
            <a:r>
              <a:rPr lang="en-US" sz="1600" b="1" dirty="0">
                <a:latin typeface="Times New Roman" panose="02020603050405020304" pitchFamily="18" charset="0"/>
                <a:cs typeface="Times New Roman" panose="02020603050405020304" pitchFamily="18" charset="0"/>
              </a:rPr>
              <a:t>Execution Reporting</a:t>
            </a:r>
            <a:r>
              <a:rPr lang="en-US" sz="1600" dirty="0">
                <a:latin typeface="Times New Roman" panose="02020603050405020304" pitchFamily="18" charset="0"/>
                <a:cs typeface="Times New Roman" panose="02020603050405020304" pitchFamily="18" charset="0"/>
              </a:rPr>
              <a:t>: The Local Sandbox captures compilation logs, runtime errors, or program </a:t>
            </a:r>
            <a:r>
              <a:rPr lang="en-US" sz="1600" dirty="0" err="1">
                <a:latin typeface="Times New Roman" panose="02020603050405020304" pitchFamily="18" charset="0"/>
                <a:cs typeface="Times New Roman" panose="02020603050405020304" pitchFamily="18" charset="0"/>
              </a:rPr>
              <a:t>stdout</a:t>
            </a:r>
            <a:r>
              <a:rPr lang="en-US" sz="1600" dirty="0">
                <a:latin typeface="Times New Roman" panose="02020603050405020304" pitchFamily="18" charset="0"/>
                <a:cs typeface="Times New Roman" panose="02020603050405020304" pitchFamily="18" charset="0"/>
              </a:rPr>
              <a:t> within an 8-second safety timeout.</a:t>
            </a:r>
          </a:p>
          <a:p>
            <a:r>
              <a:rPr lang="en-US" sz="1600" b="1" dirty="0">
                <a:latin typeface="Times New Roman" panose="02020603050405020304" pitchFamily="18" charset="0"/>
                <a:cs typeface="Times New Roman" panose="02020603050405020304" pitchFamily="18" charset="0"/>
              </a:rPr>
              <a:t>AI Diagnostic Request</a:t>
            </a:r>
            <a:r>
              <a:rPr lang="en-US" sz="1600" dirty="0">
                <a:latin typeface="Times New Roman" panose="02020603050405020304" pitchFamily="18" charset="0"/>
                <a:cs typeface="Times New Roman" panose="02020603050405020304" pitchFamily="18" charset="0"/>
              </a:rPr>
              <a:t>: The server automatically routes the code and diagnostic logs to the</a:t>
            </a:r>
            <a:r>
              <a:rPr lang="en-US" sz="16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AI Orchestrator if error logs are detected.</a:t>
            </a:r>
          </a:p>
          <a:p>
            <a:r>
              <a:rPr lang="en-US" sz="1600" b="1" dirty="0">
                <a:latin typeface="Times New Roman" panose="02020603050405020304" pitchFamily="18" charset="0"/>
                <a:cs typeface="Times New Roman" panose="02020603050405020304" pitchFamily="18" charset="0"/>
              </a:rPr>
              <a:t>Multi-Agent Reasoning</a:t>
            </a:r>
            <a:r>
              <a:rPr lang="en-US" sz="1600" dirty="0">
                <a:latin typeface="Times New Roman" panose="02020603050405020304" pitchFamily="18" charset="0"/>
                <a:cs typeface="Times New Roman" panose="02020603050405020304" pitchFamily="18" charset="0"/>
              </a:rPr>
              <a:t>: The AI Orchestrator processes the error logs, planning, compiling, and synthesizing detailed code repair recommendations.</a:t>
            </a:r>
          </a:p>
          <a:p>
            <a:r>
              <a:rPr lang="en-US" sz="1600" b="1" dirty="0">
                <a:latin typeface="Times New Roman" panose="02020603050405020304" pitchFamily="18" charset="0"/>
                <a:cs typeface="Times New Roman" panose="02020603050405020304" pitchFamily="18" charset="0"/>
              </a:rPr>
              <a:t>Data Persistence</a:t>
            </a:r>
            <a:r>
              <a:rPr lang="en-US" sz="1600" dirty="0">
                <a:latin typeface="Times New Roman" panose="02020603050405020304" pitchFamily="18" charset="0"/>
                <a:cs typeface="Times New Roman" panose="02020603050405020304" pitchFamily="18" charset="0"/>
              </a:rPr>
              <a:t>: The server calculates user progression updates, level boundaries, and streak states, saving them in the MongoDB Database.</a:t>
            </a:r>
          </a:p>
          <a:p>
            <a:r>
              <a:rPr lang="en-US" sz="1600" b="1" dirty="0">
                <a:latin typeface="Times New Roman" panose="02020603050405020304" pitchFamily="18" charset="0"/>
                <a:cs typeface="Times New Roman" panose="02020603050405020304" pitchFamily="18" charset="0"/>
              </a:rPr>
              <a:t>UI Render and Feedback</a:t>
            </a:r>
            <a:r>
              <a:rPr lang="en-US" sz="1600" dirty="0">
                <a:latin typeface="Times New Roman" panose="02020603050405020304" pitchFamily="18" charset="0"/>
                <a:cs typeface="Times New Roman" panose="02020603050405020304" pitchFamily="18" charset="0"/>
              </a:rPr>
              <a:t>: The Frontend UI updates user statistics, generates visual state diagrams, and renders interactive feedback cards to the Learner</a:t>
            </a:r>
          </a:p>
        </p:txBody>
      </p:sp>
      <p:sp>
        <p:nvSpPr>
          <p:cNvPr id="4" name="object 2">
            <a:extLst>
              <a:ext uri="{FF2B5EF4-FFF2-40B4-BE49-F238E27FC236}">
                <a16:creationId xmlns:a16="http://schemas.microsoft.com/office/drawing/2014/main" id="{D971F82D-F917-46CF-8BA6-87DCE81935E6}"/>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Tree>
    <p:extLst>
      <p:ext uri="{BB962C8B-B14F-4D97-AF65-F5344CB8AC3E}">
        <p14:creationId xmlns:p14="http://schemas.microsoft.com/office/powerpoint/2010/main" val="38861483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Title 1"/>
          <p:cNvSpPr>
            <a:spLocks noGrp="1"/>
          </p:cNvSpPr>
          <p:nvPr>
            <p:ph type="title"/>
          </p:nvPr>
        </p:nvSpPr>
        <p:spPr>
          <a:xfrm>
            <a:off x="838200" y="365125"/>
            <a:ext cx="10515600" cy="721553"/>
          </a:xfrm>
        </p:spPr>
        <p:txBody>
          <a:bodyPr/>
          <a:lstStyle/>
          <a:p>
            <a:r>
              <a:rPr lang="en-IN" dirty="0">
                <a:solidFill>
                  <a:srgbClr val="002060"/>
                </a:solidFill>
              </a:rPr>
              <a:t>3. Architectural Design</a:t>
            </a:r>
            <a:endParaRPr lang="en-IN" dirty="0"/>
          </a:p>
        </p:txBody>
      </p:sp>
      <p:sp>
        <p:nvSpPr>
          <p:cNvPr id="1048604" name="Content Placeholder 2"/>
          <p:cNvSpPr>
            <a:spLocks noGrp="1"/>
          </p:cNvSpPr>
          <p:nvPr>
            <p:ph idx="1"/>
          </p:nvPr>
        </p:nvSpPr>
        <p:spPr>
          <a:xfrm>
            <a:off x="238539" y="1241201"/>
            <a:ext cx="11410122" cy="587599"/>
          </a:xfrm>
        </p:spPr>
        <p:txBody>
          <a:bodyPr>
            <a:noAutofit/>
          </a:bodyPr>
          <a:lstStyle/>
          <a:p>
            <a:pPr marL="457200" lvl="1" indent="0" algn="just">
              <a:buNone/>
            </a:pPr>
            <a:r>
              <a:rPr lang="en-IN" sz="1600" b="1" dirty="0">
                <a:solidFill>
                  <a:srgbClr val="002060"/>
                </a:solidFill>
                <a:latin typeface="Times New Roman" panose="02020603050405020304" pitchFamily="18" charset="0"/>
                <a:cs typeface="Times New Roman" panose="02020603050405020304" pitchFamily="18" charset="0"/>
              </a:rPr>
              <a:t>3.3 </a:t>
            </a:r>
            <a:r>
              <a:rPr lang="en-US" sz="1400" b="1" dirty="0">
                <a:solidFill>
                  <a:srgbClr val="002060"/>
                </a:solidFill>
                <a:latin typeface="Times New Roman" panose="02020603050405020304" pitchFamily="18" charset="0"/>
                <a:cs typeface="Times New Roman" panose="02020603050405020304" pitchFamily="18" charset="0"/>
              </a:rPr>
              <a:t>Project Architecture</a:t>
            </a:r>
          </a:p>
          <a:p>
            <a:pPr marL="457200" lvl="1" indent="0" algn="just">
              <a:buNone/>
            </a:pPr>
            <a:r>
              <a:rPr lang="en-US" sz="1400" b="1" dirty="0">
                <a:solidFill>
                  <a:srgbClr val="002060"/>
                </a:solidFill>
                <a:latin typeface="Times New Roman" panose="02020603050405020304" pitchFamily="18" charset="0"/>
                <a:cs typeface="Times New Roman" panose="02020603050405020304" pitchFamily="18" charset="0"/>
              </a:rPr>
              <a:t>	3.3.6 Activity Diagram</a:t>
            </a:r>
            <a:endParaRPr lang="en-IN" sz="1400" b="1" dirty="0">
              <a:solidFill>
                <a:srgbClr val="002060"/>
              </a:solidFill>
              <a:latin typeface="Times New Roman" panose="02020603050405020304" pitchFamily="18" charset="0"/>
              <a:cs typeface="Times New Roman" panose="02020603050405020304" pitchFamily="18" charset="0"/>
            </a:endParaRPr>
          </a:p>
        </p:txBody>
      </p:sp>
      <p:sp>
        <p:nvSpPr>
          <p:cNvPr id="1048605" name="object 2"/>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pic>
        <p:nvPicPr>
          <p:cNvPr id="3" name="Picture 2">
            <a:extLst>
              <a:ext uri="{FF2B5EF4-FFF2-40B4-BE49-F238E27FC236}">
                <a16:creationId xmlns:a16="http://schemas.microsoft.com/office/drawing/2014/main" id="{C18920BC-5B2A-3D78-5A58-61FA1DD42099}"/>
              </a:ext>
            </a:extLst>
          </p:cNvPr>
          <p:cNvPicPr>
            <a:picLocks noChangeAspect="1"/>
          </p:cNvPicPr>
          <p:nvPr/>
        </p:nvPicPr>
        <p:blipFill>
          <a:blip r:embed="rId2"/>
          <a:stretch>
            <a:fillRect/>
          </a:stretch>
        </p:blipFill>
        <p:spPr>
          <a:xfrm>
            <a:off x="3023118" y="953466"/>
            <a:ext cx="7800391" cy="5614054"/>
          </a:xfrm>
          <a:prstGeom prst="rect">
            <a:avLst/>
          </a:prstGeom>
        </p:spPr>
      </p:pic>
    </p:spTree>
    <p:extLst>
      <p:ext uri="{BB962C8B-B14F-4D97-AF65-F5344CB8AC3E}">
        <p14:creationId xmlns:p14="http://schemas.microsoft.com/office/powerpoint/2010/main" val="37332275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00D1D-0381-45CF-9ADE-9C274B6E65E6}"/>
              </a:ext>
            </a:extLst>
          </p:cNvPr>
          <p:cNvSpPr>
            <a:spLocks noGrp="1"/>
          </p:cNvSpPr>
          <p:nvPr>
            <p:ph type="title"/>
          </p:nvPr>
        </p:nvSpPr>
        <p:spPr>
          <a:xfrm>
            <a:off x="838200" y="455168"/>
            <a:ext cx="10515600" cy="451737"/>
          </a:xfrm>
        </p:spPr>
        <p:txBody>
          <a:bodyPr>
            <a:normAutofit fontScale="90000"/>
          </a:bodyPr>
          <a:lstStyle/>
          <a:p>
            <a:r>
              <a:rPr lang="en-US" sz="4000" dirty="0">
                <a:solidFill>
                  <a:schemeClr val="accent1">
                    <a:lumMod val="50000"/>
                  </a:schemeClr>
                </a:solidFill>
                <a:latin typeface="Times New Roman" panose="02020603050405020304" pitchFamily="18" charset="0"/>
                <a:cs typeface="Times New Roman" panose="02020603050405020304" pitchFamily="18" charset="0"/>
              </a:rPr>
              <a:t>Activity Diagram:</a:t>
            </a:r>
            <a:endParaRPr lang="en-IN" sz="40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437756F-EEC9-4211-9B59-E3B5CF36456D}"/>
              </a:ext>
            </a:extLst>
          </p:cNvPr>
          <p:cNvSpPr>
            <a:spLocks noGrp="1"/>
          </p:cNvSpPr>
          <p:nvPr>
            <p:ph idx="1"/>
          </p:nvPr>
        </p:nvSpPr>
        <p:spPr>
          <a:xfrm>
            <a:off x="836548" y="1189519"/>
            <a:ext cx="10515600" cy="4371526"/>
          </a:xfrm>
        </p:spPr>
        <p:txBody>
          <a:bodyPr>
            <a:noAutofit/>
          </a:bodyPr>
          <a:lstStyle/>
          <a:p>
            <a:pPr algn="just"/>
            <a:r>
              <a:rPr lang="en-US" sz="1600" b="1" dirty="0">
                <a:latin typeface="Times New Roman" panose="02020603050405020304" pitchFamily="18" charset="0"/>
                <a:cs typeface="Times New Roman" panose="02020603050405020304" pitchFamily="18" charset="0"/>
              </a:rPr>
              <a:t>Activity Initialization</a:t>
            </a:r>
            <a:r>
              <a:rPr lang="en-US" sz="1600" dirty="0">
                <a:latin typeface="Times New Roman" panose="02020603050405020304" pitchFamily="18" charset="0"/>
                <a:cs typeface="Times New Roman" panose="02020603050405020304" pitchFamily="18" charset="0"/>
              </a:rPr>
              <a:t>: The workflow begins when the learner navigates to their dashboard and selects a pending topic or custom challenge.</a:t>
            </a:r>
          </a:p>
          <a:p>
            <a:pPr algn="just"/>
            <a:r>
              <a:rPr lang="en-US" sz="1600" b="1" dirty="0">
                <a:latin typeface="Times New Roman" panose="02020603050405020304" pitchFamily="18" charset="0"/>
                <a:cs typeface="Times New Roman" panose="02020603050405020304" pitchFamily="18" charset="0"/>
              </a:rPr>
              <a:t>Standard Sandbox Compilation</a:t>
            </a:r>
            <a:r>
              <a:rPr lang="en-US" sz="1600" dirty="0">
                <a:latin typeface="Times New Roman" panose="02020603050405020304" pitchFamily="18" charset="0"/>
                <a:cs typeface="Times New Roman" panose="02020603050405020304" pitchFamily="18" charset="0"/>
              </a:rPr>
              <a:t>: Code is submitted to check for syntax issues, compile warnings, or execution limits in the local sandbox.</a:t>
            </a:r>
          </a:p>
          <a:p>
            <a:pPr algn="just"/>
            <a:r>
              <a:rPr lang="en-US" sz="1600" b="1" dirty="0">
                <a:latin typeface="Times New Roman" panose="02020603050405020304" pitchFamily="18" charset="0"/>
                <a:cs typeface="Times New Roman" panose="02020603050405020304" pitchFamily="18" charset="0"/>
              </a:rPr>
              <a:t>AI Diagnostics Route</a:t>
            </a:r>
            <a:r>
              <a:rPr lang="en-US" sz="1600" dirty="0">
                <a:latin typeface="Times New Roman" panose="02020603050405020304" pitchFamily="18" charset="0"/>
                <a:cs typeface="Times New Roman" panose="02020603050405020304" pitchFamily="18" charset="0"/>
              </a:rPr>
              <a:t>: If the system detects execution errors, it triggers the AI Agent to review the code and formulate custom repair tips.</a:t>
            </a:r>
          </a:p>
          <a:p>
            <a:pPr algn="just"/>
            <a:r>
              <a:rPr lang="en-US" sz="1600" b="1" dirty="0">
                <a:latin typeface="Times New Roman" panose="02020603050405020304" pitchFamily="18" charset="0"/>
                <a:cs typeface="Times New Roman" panose="02020603050405020304" pitchFamily="18" charset="0"/>
              </a:rPr>
              <a:t>Interactive Iteration Loop</a:t>
            </a:r>
            <a:r>
              <a:rPr lang="en-US" sz="1600" dirty="0">
                <a:latin typeface="Times New Roman" panose="02020603050405020304" pitchFamily="18" charset="0"/>
                <a:cs typeface="Times New Roman" panose="02020603050405020304" pitchFamily="18" charset="0"/>
              </a:rPr>
              <a:t>: Learners review compiler outputs and AI feedback cards, editing code in a continuous correction loop.</a:t>
            </a:r>
          </a:p>
          <a:p>
            <a:pPr algn="just"/>
            <a:r>
              <a:rPr lang="en-US" sz="1600" b="1" dirty="0">
                <a:latin typeface="Times New Roman" panose="02020603050405020304" pitchFamily="18" charset="0"/>
                <a:cs typeface="Times New Roman" panose="02020603050405020304" pitchFamily="18" charset="0"/>
              </a:rPr>
              <a:t>Assertion Verification</a:t>
            </a:r>
            <a:r>
              <a:rPr lang="en-US" sz="1600" dirty="0">
                <a:latin typeface="Times New Roman" panose="02020603050405020304" pitchFamily="18" charset="0"/>
                <a:cs typeface="Times New Roman" panose="02020603050405020304" pitchFamily="18" charset="0"/>
              </a:rPr>
              <a:t>: Once code compiles cleanly, the engine runs assertions against multiple hidden and visible test cases.</a:t>
            </a:r>
          </a:p>
          <a:p>
            <a:pPr algn="just"/>
            <a:r>
              <a:rPr lang="en-US" sz="1600" b="1" dirty="0">
                <a:latin typeface="Times New Roman" panose="02020603050405020304" pitchFamily="18" charset="0"/>
                <a:cs typeface="Times New Roman" panose="02020603050405020304" pitchFamily="18" charset="0"/>
              </a:rPr>
              <a:t>Reward Calculation</a:t>
            </a:r>
            <a:r>
              <a:rPr lang="en-US" sz="1600" dirty="0">
                <a:latin typeface="Times New Roman" panose="02020603050405020304" pitchFamily="18" charset="0"/>
                <a:cs typeface="Times New Roman" panose="02020603050405020304" pitchFamily="18" charset="0"/>
              </a:rPr>
              <a:t>: Achieving passing assertions launches an automated engine to calculate experience points (XP) and unlock system badges.</a:t>
            </a:r>
          </a:p>
          <a:p>
            <a:pPr algn="just"/>
            <a:r>
              <a:rPr lang="en-US" sz="1600" b="1" dirty="0">
                <a:latin typeface="Times New Roman" panose="02020603050405020304" pitchFamily="18" charset="0"/>
                <a:cs typeface="Times New Roman" panose="02020603050405020304" pitchFamily="18" charset="0"/>
              </a:rPr>
              <a:t>Database Synchronization</a:t>
            </a:r>
            <a:r>
              <a:rPr lang="en-US" sz="1600" dirty="0">
                <a:latin typeface="Times New Roman" panose="02020603050405020304" pitchFamily="18" charset="0"/>
                <a:cs typeface="Times New Roman" panose="02020603050405020304" pitchFamily="18" charset="0"/>
              </a:rPr>
              <a:t>: The activity terminates by saving state changes, updating leaderboards, and unlocking subsequent learning nodes.</a:t>
            </a:r>
          </a:p>
        </p:txBody>
      </p:sp>
      <p:sp>
        <p:nvSpPr>
          <p:cNvPr id="4" name="object 2">
            <a:extLst>
              <a:ext uri="{FF2B5EF4-FFF2-40B4-BE49-F238E27FC236}">
                <a16:creationId xmlns:a16="http://schemas.microsoft.com/office/drawing/2014/main" id="{D971F82D-F917-46CF-8BA6-87DCE81935E6}"/>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Tree>
    <p:extLst>
      <p:ext uri="{BB962C8B-B14F-4D97-AF65-F5344CB8AC3E}">
        <p14:creationId xmlns:p14="http://schemas.microsoft.com/office/powerpoint/2010/main" val="30176954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454A5-A8E7-AA97-24B6-63A3F53FB006}"/>
              </a:ext>
            </a:extLst>
          </p:cNvPr>
          <p:cNvSpPr>
            <a:spLocks noGrp="1"/>
          </p:cNvSpPr>
          <p:nvPr>
            <p:ph type="title"/>
          </p:nvPr>
        </p:nvSpPr>
        <p:spPr>
          <a:xfrm>
            <a:off x="345058" y="94363"/>
            <a:ext cx="5037826" cy="751027"/>
          </a:xfrm>
        </p:spPr>
        <p:txBody>
          <a:bodyPr>
            <a:normAutofit/>
          </a:bodyPr>
          <a:lstStyle/>
          <a:p>
            <a:r>
              <a:rPr lang="en-US" sz="2800" dirty="0">
                <a:solidFill>
                  <a:srgbClr val="002060"/>
                </a:solidFill>
                <a:latin typeface="Times New Roman" panose="02020603050405020304" pitchFamily="18" charset="0"/>
                <a:cs typeface="Times New Roman" panose="02020603050405020304" pitchFamily="18" charset="0"/>
              </a:rPr>
              <a:t>Technologies</a:t>
            </a:r>
            <a:endParaRPr lang="en-IN" sz="2800" dirty="0"/>
          </a:p>
        </p:txBody>
      </p:sp>
      <p:sp>
        <p:nvSpPr>
          <p:cNvPr id="3" name="Content Placeholder 2">
            <a:extLst>
              <a:ext uri="{FF2B5EF4-FFF2-40B4-BE49-F238E27FC236}">
                <a16:creationId xmlns:a16="http://schemas.microsoft.com/office/drawing/2014/main" id="{5569CA09-3D9D-4F87-6A61-0850148D93B3}"/>
              </a:ext>
            </a:extLst>
          </p:cNvPr>
          <p:cNvSpPr>
            <a:spLocks noGrp="1"/>
          </p:cNvSpPr>
          <p:nvPr>
            <p:ph idx="1"/>
          </p:nvPr>
        </p:nvSpPr>
        <p:spPr>
          <a:xfrm>
            <a:off x="268941" y="952081"/>
            <a:ext cx="11601006" cy="5130667"/>
          </a:xfrm>
        </p:spPr>
        <p:txBody>
          <a:bodyPr>
            <a:noAutofit/>
          </a:bodyPr>
          <a:lstStyle/>
          <a:p>
            <a:pPr algn="just"/>
            <a:r>
              <a:rPr lang="en-US" sz="1800" b="1" dirty="0">
                <a:latin typeface="Times New Roman" panose="02020603050405020304" pitchFamily="18" charset="0"/>
                <a:cs typeface="Times New Roman" panose="02020603050405020304" pitchFamily="18" charset="0"/>
              </a:rPr>
              <a:t>1. Backend Technologies</a:t>
            </a:r>
          </a:p>
          <a:p>
            <a:r>
              <a:rPr lang="en-US" sz="1600" b="1" dirty="0">
                <a:latin typeface="Times New Roman" panose="02020603050405020304" pitchFamily="18" charset="0"/>
                <a:cs typeface="Times New Roman" panose="02020603050405020304" pitchFamily="18" charset="0"/>
              </a:rPr>
              <a:t>Node.js</a:t>
            </a:r>
            <a:r>
              <a:rPr lang="en-US" sz="1600" dirty="0">
                <a:latin typeface="Times New Roman" panose="02020603050405020304" pitchFamily="18" charset="0"/>
                <a:cs typeface="Times New Roman" panose="02020603050405020304" pitchFamily="18" charset="0"/>
              </a:rPr>
              <a:t>: A JavaScript runtime used for building the server-side application and managing APIs.</a:t>
            </a:r>
          </a:p>
          <a:p>
            <a:r>
              <a:rPr lang="en-US" sz="1600" b="1" dirty="0">
                <a:latin typeface="Times New Roman" panose="02020603050405020304" pitchFamily="18" charset="0"/>
                <a:cs typeface="Times New Roman" panose="02020603050405020304" pitchFamily="18" charset="0"/>
              </a:rPr>
              <a:t>Express.js</a:t>
            </a:r>
            <a:r>
              <a:rPr lang="en-US" sz="1600" dirty="0">
                <a:latin typeface="Times New Roman" panose="02020603050405020304" pitchFamily="18" charset="0"/>
                <a:cs typeface="Times New Roman" panose="02020603050405020304" pitchFamily="18" charset="0"/>
              </a:rPr>
              <a:t>: A web application framework for Node.js, used to build the server and define routes for handling requests.</a:t>
            </a:r>
          </a:p>
          <a:p>
            <a:r>
              <a:rPr lang="en-US" sz="1600" b="1" dirty="0">
                <a:latin typeface="Times New Roman" panose="02020603050405020304" pitchFamily="18" charset="0"/>
                <a:cs typeface="Times New Roman" panose="02020603050405020304" pitchFamily="18" charset="0"/>
              </a:rPr>
              <a:t>MongoDB</a:t>
            </a:r>
            <a:r>
              <a:rPr lang="en-US" sz="1600" dirty="0">
                <a:latin typeface="Times New Roman" panose="02020603050405020304" pitchFamily="18" charset="0"/>
                <a:cs typeface="Times New Roman" panose="02020603050405020304" pitchFamily="18" charset="0"/>
              </a:rPr>
              <a:t>: A NoSQL database used to store user profiles, learning path nodes, completed challenges, and earned badges.</a:t>
            </a:r>
          </a:p>
          <a:p>
            <a:pPr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algn="just"/>
            <a:r>
              <a:rPr lang="en-US" sz="1800" b="1" dirty="0">
                <a:latin typeface="Times New Roman" panose="02020603050405020304" pitchFamily="18" charset="0"/>
                <a:cs typeface="Times New Roman" panose="02020603050405020304" pitchFamily="18" charset="0"/>
              </a:rPr>
              <a:t>2. Frontend Technologies</a:t>
            </a:r>
          </a:p>
          <a:p>
            <a:r>
              <a:rPr lang="en-US" sz="1600" b="1" dirty="0">
                <a:latin typeface="Times New Roman" panose="02020603050405020304" pitchFamily="18" charset="0"/>
                <a:cs typeface="Times New Roman" panose="02020603050405020304" pitchFamily="18" charset="0"/>
              </a:rPr>
              <a:t>React.js</a:t>
            </a:r>
            <a:r>
              <a:rPr lang="en-US" sz="1600" dirty="0">
                <a:latin typeface="Times New Roman" panose="02020603050405020304" pitchFamily="18" charset="0"/>
                <a:cs typeface="Times New Roman" panose="02020603050405020304" pitchFamily="18" charset="0"/>
              </a:rPr>
              <a:t>: A frontend JavaScript library used for building interactive, component-based user interfaces.</a:t>
            </a:r>
          </a:p>
          <a:p>
            <a:r>
              <a:rPr lang="en-US" sz="1600" b="1" dirty="0">
                <a:latin typeface="Times New Roman" panose="02020603050405020304" pitchFamily="18" charset="0"/>
                <a:cs typeface="Times New Roman" panose="02020603050405020304" pitchFamily="18" charset="0"/>
              </a:rPr>
              <a:t>Monaco Editor</a:t>
            </a:r>
            <a:r>
              <a:rPr lang="en-US" sz="1600" dirty="0">
                <a:latin typeface="Times New Roman" panose="02020603050405020304" pitchFamily="18" charset="0"/>
                <a:cs typeface="Times New Roman" panose="02020603050405020304" pitchFamily="18" charset="0"/>
              </a:rPr>
              <a:t>: A browser-based code editor engine used to provide code editing, syntax highlighting, and themes.</a:t>
            </a:r>
          </a:p>
          <a:p>
            <a:r>
              <a:rPr lang="en-US" sz="1600" b="1" dirty="0">
                <a:latin typeface="Times New Roman" panose="02020603050405020304" pitchFamily="18" charset="0"/>
                <a:cs typeface="Times New Roman" panose="02020603050405020304" pitchFamily="18" charset="0"/>
              </a:rPr>
              <a:t>React Flow</a:t>
            </a:r>
            <a:r>
              <a:rPr lang="en-US" sz="1600" dirty="0">
                <a:latin typeface="Times New Roman" panose="02020603050405020304" pitchFamily="18" charset="0"/>
                <a:cs typeface="Times New Roman" panose="02020603050405020304" pitchFamily="18" charset="0"/>
              </a:rPr>
              <a:t>: A node-based diagramming library used to build interactive, visual learning paths.</a:t>
            </a:r>
          </a:p>
          <a:p>
            <a:r>
              <a:rPr lang="en-US" sz="1600" b="1" dirty="0">
                <a:latin typeface="Times New Roman" panose="02020603050405020304" pitchFamily="18" charset="0"/>
                <a:cs typeface="Times New Roman" panose="02020603050405020304" pitchFamily="18" charset="0"/>
              </a:rPr>
              <a:t>3. AI Integration</a:t>
            </a:r>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Gemini &amp; </a:t>
            </a:r>
            <a:r>
              <a:rPr lang="en-US" sz="1600" b="1" dirty="0" err="1">
                <a:latin typeface="Times New Roman" panose="02020603050405020304" pitchFamily="18" charset="0"/>
                <a:cs typeface="Times New Roman" panose="02020603050405020304" pitchFamily="18" charset="0"/>
              </a:rPr>
              <a:t>Groq</a:t>
            </a:r>
            <a:r>
              <a:rPr lang="en-US" sz="1600" b="1" dirty="0">
                <a:latin typeface="Times New Roman" panose="02020603050405020304" pitchFamily="18" charset="0"/>
                <a:cs typeface="Times New Roman" panose="02020603050405020304" pitchFamily="18" charset="0"/>
              </a:rPr>
              <a:t> APIs</a:t>
            </a:r>
            <a:r>
              <a:rPr lang="en-US" sz="1600" dirty="0">
                <a:latin typeface="Times New Roman" panose="02020603050405020304" pitchFamily="18" charset="0"/>
                <a:cs typeface="Times New Roman" panose="02020603050405020304" pitchFamily="18" charset="0"/>
              </a:rPr>
              <a:t>: LLM integration services used to analyze code, explain concepts, and generate custom challenges.</a:t>
            </a:r>
          </a:p>
        </p:txBody>
      </p:sp>
      <p:sp>
        <p:nvSpPr>
          <p:cNvPr id="4" name="object 2">
            <a:extLst>
              <a:ext uri="{FF2B5EF4-FFF2-40B4-BE49-F238E27FC236}">
                <a16:creationId xmlns:a16="http://schemas.microsoft.com/office/drawing/2014/main" id="{D04DA85E-7065-CC47-6C99-64D8D2F7FD28}"/>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Tree>
    <p:extLst>
      <p:ext uri="{BB962C8B-B14F-4D97-AF65-F5344CB8AC3E}">
        <p14:creationId xmlns:p14="http://schemas.microsoft.com/office/powerpoint/2010/main" val="41894351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Title 1"/>
          <p:cNvSpPr>
            <a:spLocks noGrp="1"/>
          </p:cNvSpPr>
          <p:nvPr>
            <p:ph type="title"/>
          </p:nvPr>
        </p:nvSpPr>
        <p:spPr>
          <a:xfrm>
            <a:off x="838200" y="365125"/>
            <a:ext cx="10515600" cy="721553"/>
          </a:xfrm>
        </p:spPr>
        <p:txBody>
          <a:bodyPr/>
          <a:lstStyle/>
          <a:p>
            <a:r>
              <a:rPr lang="en-IN" dirty="0">
                <a:solidFill>
                  <a:srgbClr val="002060"/>
                </a:solidFill>
              </a:rPr>
              <a:t>4. Implementation and Testing</a:t>
            </a:r>
            <a:endParaRPr lang="en-IN" dirty="0"/>
          </a:p>
        </p:txBody>
      </p:sp>
      <p:sp>
        <p:nvSpPr>
          <p:cNvPr id="1048604" name="Content Placeholder 2"/>
          <p:cNvSpPr>
            <a:spLocks noGrp="1"/>
          </p:cNvSpPr>
          <p:nvPr>
            <p:ph idx="1"/>
          </p:nvPr>
        </p:nvSpPr>
        <p:spPr>
          <a:xfrm>
            <a:off x="238539" y="1241201"/>
            <a:ext cx="11410122" cy="5251674"/>
          </a:xfrm>
        </p:spPr>
        <p:txBody>
          <a:bodyPr>
            <a:noAutofit/>
          </a:bodyPr>
          <a:lstStyle/>
          <a:p>
            <a:pPr marL="457200" lvl="1" indent="0" algn="just">
              <a:buNone/>
            </a:pPr>
            <a:r>
              <a:rPr lang="en-US" sz="1600" b="1" dirty="0">
                <a:solidFill>
                  <a:srgbClr val="002060"/>
                </a:solidFill>
                <a:latin typeface="Times New Roman" panose="02020603050405020304" pitchFamily="18" charset="0"/>
                <a:cs typeface="Times New Roman" panose="02020603050405020304" pitchFamily="18" charset="0"/>
              </a:rPr>
              <a:t>4.1 Coding Blocks</a:t>
            </a:r>
            <a:endParaRPr lang="en-IN" sz="1400" b="1" dirty="0">
              <a:solidFill>
                <a:srgbClr val="002060"/>
              </a:solidFill>
              <a:latin typeface="Times New Roman" panose="02020603050405020304" pitchFamily="18" charset="0"/>
              <a:cs typeface="Times New Roman" panose="02020603050405020304" pitchFamily="18" charset="0"/>
            </a:endParaRPr>
          </a:p>
        </p:txBody>
      </p:sp>
      <p:sp>
        <p:nvSpPr>
          <p:cNvPr id="1048605" name="object 2"/>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pic>
        <p:nvPicPr>
          <p:cNvPr id="4" name="Picture 3">
            <a:extLst>
              <a:ext uri="{FF2B5EF4-FFF2-40B4-BE49-F238E27FC236}">
                <a16:creationId xmlns:a16="http://schemas.microsoft.com/office/drawing/2014/main" id="{3F93A351-9F66-0A8E-8F5B-0D4E3D25DFD3}"/>
              </a:ext>
            </a:extLst>
          </p:cNvPr>
          <p:cNvPicPr>
            <a:picLocks noChangeAspect="1"/>
          </p:cNvPicPr>
          <p:nvPr/>
        </p:nvPicPr>
        <p:blipFill>
          <a:blip r:embed="rId2"/>
          <a:stretch>
            <a:fillRect/>
          </a:stretch>
        </p:blipFill>
        <p:spPr>
          <a:xfrm>
            <a:off x="2581314" y="1432133"/>
            <a:ext cx="8111568" cy="4869810"/>
          </a:xfrm>
          <a:prstGeom prst="rect">
            <a:avLst/>
          </a:prstGeom>
        </p:spPr>
      </p:pic>
    </p:spTree>
    <p:extLst>
      <p:ext uri="{BB962C8B-B14F-4D97-AF65-F5344CB8AC3E}">
        <p14:creationId xmlns:p14="http://schemas.microsoft.com/office/powerpoint/2010/main" val="28966679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9DADDF01-EF80-4894-B8C3-676F6C5D1558}"/>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pic>
        <p:nvPicPr>
          <p:cNvPr id="5" name="Picture 4">
            <a:extLst>
              <a:ext uri="{FF2B5EF4-FFF2-40B4-BE49-F238E27FC236}">
                <a16:creationId xmlns:a16="http://schemas.microsoft.com/office/drawing/2014/main" id="{43B2468A-9B0D-3DB2-50D7-4C2B36221F99}"/>
              </a:ext>
            </a:extLst>
          </p:cNvPr>
          <p:cNvPicPr>
            <a:picLocks noChangeAspect="1"/>
          </p:cNvPicPr>
          <p:nvPr/>
        </p:nvPicPr>
        <p:blipFill>
          <a:blip r:embed="rId2"/>
          <a:stretch>
            <a:fillRect/>
          </a:stretch>
        </p:blipFill>
        <p:spPr>
          <a:xfrm>
            <a:off x="324945" y="218890"/>
            <a:ext cx="5648207" cy="4519052"/>
          </a:xfrm>
          <a:prstGeom prst="rect">
            <a:avLst/>
          </a:prstGeom>
        </p:spPr>
      </p:pic>
      <p:pic>
        <p:nvPicPr>
          <p:cNvPr id="8" name="Picture 7">
            <a:extLst>
              <a:ext uri="{FF2B5EF4-FFF2-40B4-BE49-F238E27FC236}">
                <a16:creationId xmlns:a16="http://schemas.microsoft.com/office/drawing/2014/main" id="{D3F19F2B-E044-3644-ADA9-9F58EFD894CC}"/>
              </a:ext>
            </a:extLst>
          </p:cNvPr>
          <p:cNvPicPr>
            <a:picLocks noChangeAspect="1"/>
          </p:cNvPicPr>
          <p:nvPr/>
        </p:nvPicPr>
        <p:blipFill>
          <a:blip r:embed="rId3"/>
          <a:stretch>
            <a:fillRect/>
          </a:stretch>
        </p:blipFill>
        <p:spPr>
          <a:xfrm>
            <a:off x="6096000" y="2849033"/>
            <a:ext cx="5884506" cy="3790077"/>
          </a:xfrm>
          <a:prstGeom prst="rect">
            <a:avLst/>
          </a:prstGeom>
        </p:spPr>
      </p:pic>
    </p:spTree>
    <p:extLst>
      <p:ext uri="{BB962C8B-B14F-4D97-AF65-F5344CB8AC3E}">
        <p14:creationId xmlns:p14="http://schemas.microsoft.com/office/powerpoint/2010/main" val="35114771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Title 1"/>
          <p:cNvSpPr>
            <a:spLocks noGrp="1"/>
          </p:cNvSpPr>
          <p:nvPr>
            <p:ph type="title"/>
          </p:nvPr>
        </p:nvSpPr>
        <p:spPr>
          <a:xfrm>
            <a:off x="838200" y="365125"/>
            <a:ext cx="10515600" cy="721553"/>
          </a:xfrm>
        </p:spPr>
        <p:txBody>
          <a:bodyPr/>
          <a:lstStyle/>
          <a:p>
            <a:r>
              <a:rPr lang="en-IN" dirty="0">
                <a:solidFill>
                  <a:srgbClr val="002060"/>
                </a:solidFill>
              </a:rPr>
              <a:t>4. Implementation and Testing</a:t>
            </a:r>
            <a:endParaRPr lang="en-IN" dirty="0"/>
          </a:p>
        </p:txBody>
      </p:sp>
      <p:sp>
        <p:nvSpPr>
          <p:cNvPr id="1048604" name="Content Placeholder 2"/>
          <p:cNvSpPr>
            <a:spLocks noGrp="1"/>
          </p:cNvSpPr>
          <p:nvPr>
            <p:ph idx="1"/>
          </p:nvPr>
        </p:nvSpPr>
        <p:spPr>
          <a:xfrm>
            <a:off x="238539" y="1241201"/>
            <a:ext cx="11410122" cy="5251674"/>
          </a:xfrm>
        </p:spPr>
        <p:txBody>
          <a:bodyPr>
            <a:noAutofit/>
          </a:bodyPr>
          <a:lstStyle/>
          <a:p>
            <a:pPr marL="457200" lvl="1" indent="0" algn="just">
              <a:buNone/>
            </a:pPr>
            <a:r>
              <a:rPr lang="en-US" sz="1600" b="1" dirty="0">
                <a:solidFill>
                  <a:srgbClr val="002060"/>
                </a:solidFill>
                <a:latin typeface="Times New Roman" panose="02020603050405020304" pitchFamily="18" charset="0"/>
                <a:cs typeface="Times New Roman" panose="02020603050405020304" pitchFamily="18" charset="0"/>
              </a:rPr>
              <a:t>4.2 Sample Code</a:t>
            </a:r>
            <a:endParaRPr lang="en-IN" sz="1400" b="1" dirty="0">
              <a:solidFill>
                <a:srgbClr val="002060"/>
              </a:solidFill>
              <a:latin typeface="Times New Roman" panose="02020603050405020304" pitchFamily="18" charset="0"/>
              <a:cs typeface="Times New Roman" panose="02020603050405020304" pitchFamily="18" charset="0"/>
            </a:endParaRPr>
          </a:p>
        </p:txBody>
      </p:sp>
      <p:sp>
        <p:nvSpPr>
          <p:cNvPr id="1048605" name="object 2"/>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pic>
        <p:nvPicPr>
          <p:cNvPr id="4" name="Picture 3">
            <a:extLst>
              <a:ext uri="{FF2B5EF4-FFF2-40B4-BE49-F238E27FC236}">
                <a16:creationId xmlns:a16="http://schemas.microsoft.com/office/drawing/2014/main" id="{37996EE2-36E0-B06E-B5CF-73246BBEFE71}"/>
              </a:ext>
            </a:extLst>
          </p:cNvPr>
          <p:cNvPicPr>
            <a:picLocks noChangeAspect="1"/>
          </p:cNvPicPr>
          <p:nvPr/>
        </p:nvPicPr>
        <p:blipFill>
          <a:blip r:embed="rId2"/>
          <a:stretch>
            <a:fillRect/>
          </a:stretch>
        </p:blipFill>
        <p:spPr>
          <a:xfrm>
            <a:off x="2649894" y="1402274"/>
            <a:ext cx="8055987" cy="5090601"/>
          </a:xfrm>
          <a:prstGeom prst="rect">
            <a:avLst/>
          </a:prstGeom>
        </p:spPr>
      </p:pic>
    </p:spTree>
    <p:extLst>
      <p:ext uri="{BB962C8B-B14F-4D97-AF65-F5344CB8AC3E}">
        <p14:creationId xmlns:p14="http://schemas.microsoft.com/office/powerpoint/2010/main" val="38679775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927B1A48-E0F9-4175-8EF9-F964195BF5A4}"/>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pic>
        <p:nvPicPr>
          <p:cNvPr id="5" name="Picture 4">
            <a:extLst>
              <a:ext uri="{FF2B5EF4-FFF2-40B4-BE49-F238E27FC236}">
                <a16:creationId xmlns:a16="http://schemas.microsoft.com/office/drawing/2014/main" id="{EED18721-CB58-4BF1-7F7F-5AB71208ADDE}"/>
              </a:ext>
            </a:extLst>
          </p:cNvPr>
          <p:cNvPicPr>
            <a:picLocks noChangeAspect="1"/>
          </p:cNvPicPr>
          <p:nvPr/>
        </p:nvPicPr>
        <p:blipFill>
          <a:blip r:embed="rId2"/>
          <a:stretch>
            <a:fillRect/>
          </a:stretch>
        </p:blipFill>
        <p:spPr>
          <a:xfrm>
            <a:off x="1343608" y="369305"/>
            <a:ext cx="9666514" cy="6119390"/>
          </a:xfrm>
          <a:prstGeom prst="rect">
            <a:avLst/>
          </a:prstGeom>
        </p:spPr>
      </p:pic>
    </p:spTree>
    <p:extLst>
      <p:ext uri="{BB962C8B-B14F-4D97-AF65-F5344CB8AC3E}">
        <p14:creationId xmlns:p14="http://schemas.microsoft.com/office/powerpoint/2010/main" val="5028758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Title 1"/>
          <p:cNvSpPr>
            <a:spLocks noGrp="1"/>
          </p:cNvSpPr>
          <p:nvPr>
            <p:ph type="title"/>
          </p:nvPr>
        </p:nvSpPr>
        <p:spPr>
          <a:xfrm>
            <a:off x="838200" y="365125"/>
            <a:ext cx="10515600" cy="721553"/>
          </a:xfrm>
        </p:spPr>
        <p:txBody>
          <a:bodyPr/>
          <a:lstStyle/>
          <a:p>
            <a:r>
              <a:rPr lang="en-IN" dirty="0">
                <a:solidFill>
                  <a:srgbClr val="002060"/>
                </a:solidFill>
              </a:rPr>
              <a:t>4. Implementation and Testing</a:t>
            </a:r>
            <a:endParaRPr lang="en-IN" dirty="0"/>
          </a:p>
        </p:txBody>
      </p:sp>
      <p:sp>
        <p:nvSpPr>
          <p:cNvPr id="1048604" name="Content Placeholder 2"/>
          <p:cNvSpPr>
            <a:spLocks noGrp="1"/>
          </p:cNvSpPr>
          <p:nvPr>
            <p:ph idx="1"/>
          </p:nvPr>
        </p:nvSpPr>
        <p:spPr>
          <a:xfrm>
            <a:off x="238539" y="1241201"/>
            <a:ext cx="11410122" cy="5251674"/>
          </a:xfrm>
        </p:spPr>
        <p:txBody>
          <a:bodyPr>
            <a:noAutofit/>
          </a:bodyPr>
          <a:lstStyle/>
          <a:p>
            <a:pPr marL="457200" lvl="1" indent="0" algn="just">
              <a:buNone/>
            </a:pPr>
            <a:r>
              <a:rPr lang="en-US" sz="1600" b="1" dirty="0">
                <a:solidFill>
                  <a:srgbClr val="002060"/>
                </a:solidFill>
                <a:latin typeface="Times New Roman" panose="02020603050405020304" pitchFamily="18" charset="0"/>
                <a:cs typeface="Times New Roman" panose="02020603050405020304" pitchFamily="18" charset="0"/>
              </a:rPr>
              <a:t>4.3 Execution</a:t>
            </a:r>
            <a:endParaRPr lang="en-IN" sz="1400" b="1" dirty="0">
              <a:solidFill>
                <a:srgbClr val="002060"/>
              </a:solidFill>
              <a:latin typeface="Times New Roman" panose="02020603050405020304" pitchFamily="18" charset="0"/>
              <a:cs typeface="Times New Roman" panose="02020603050405020304" pitchFamily="18" charset="0"/>
            </a:endParaRPr>
          </a:p>
        </p:txBody>
      </p:sp>
      <p:sp>
        <p:nvSpPr>
          <p:cNvPr id="1048605" name="object 2"/>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pic>
        <p:nvPicPr>
          <p:cNvPr id="4" name="Picture 3">
            <a:extLst>
              <a:ext uri="{FF2B5EF4-FFF2-40B4-BE49-F238E27FC236}">
                <a16:creationId xmlns:a16="http://schemas.microsoft.com/office/drawing/2014/main" id="{F680AB41-D365-95E5-9876-25565C536AE3}"/>
              </a:ext>
            </a:extLst>
          </p:cNvPr>
          <p:cNvPicPr>
            <a:picLocks noChangeAspect="1"/>
          </p:cNvPicPr>
          <p:nvPr/>
        </p:nvPicPr>
        <p:blipFill>
          <a:blip r:embed="rId2"/>
          <a:stretch>
            <a:fillRect/>
          </a:stretch>
        </p:blipFill>
        <p:spPr>
          <a:xfrm>
            <a:off x="963217" y="1716331"/>
            <a:ext cx="10515600" cy="4301413"/>
          </a:xfrm>
          <a:prstGeom prst="rect">
            <a:avLst/>
          </a:prstGeom>
        </p:spPr>
      </p:pic>
    </p:spTree>
    <p:extLst>
      <p:ext uri="{BB962C8B-B14F-4D97-AF65-F5344CB8AC3E}">
        <p14:creationId xmlns:p14="http://schemas.microsoft.com/office/powerpoint/2010/main" val="38250667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1BF4770-5F38-46E2-8D6E-FD2BD78A0E98}"/>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pic>
        <p:nvPicPr>
          <p:cNvPr id="7" name="Picture 6">
            <a:extLst>
              <a:ext uri="{FF2B5EF4-FFF2-40B4-BE49-F238E27FC236}">
                <a16:creationId xmlns:a16="http://schemas.microsoft.com/office/drawing/2014/main" id="{E80E10EF-D3D8-E95C-9E3D-8F4F3918DB96}"/>
              </a:ext>
            </a:extLst>
          </p:cNvPr>
          <p:cNvPicPr>
            <a:picLocks noChangeAspect="1"/>
          </p:cNvPicPr>
          <p:nvPr/>
        </p:nvPicPr>
        <p:blipFill>
          <a:blip r:embed="rId2"/>
          <a:stretch>
            <a:fillRect/>
          </a:stretch>
        </p:blipFill>
        <p:spPr>
          <a:xfrm>
            <a:off x="904875" y="652887"/>
            <a:ext cx="10334625" cy="5552226"/>
          </a:xfrm>
          <a:prstGeom prst="rect">
            <a:avLst/>
          </a:prstGeom>
        </p:spPr>
      </p:pic>
    </p:spTree>
    <p:extLst>
      <p:ext uri="{BB962C8B-B14F-4D97-AF65-F5344CB8AC3E}">
        <p14:creationId xmlns:p14="http://schemas.microsoft.com/office/powerpoint/2010/main" val="5897934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1BF4770-5F38-46E2-8D6E-FD2BD78A0E98}"/>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pic>
        <p:nvPicPr>
          <p:cNvPr id="3" name="Picture 2">
            <a:extLst>
              <a:ext uri="{FF2B5EF4-FFF2-40B4-BE49-F238E27FC236}">
                <a16:creationId xmlns:a16="http://schemas.microsoft.com/office/drawing/2014/main" id="{5A61DAB8-8CEB-9716-9AAB-14B72F144DC8}"/>
              </a:ext>
            </a:extLst>
          </p:cNvPr>
          <p:cNvPicPr>
            <a:picLocks noChangeAspect="1"/>
          </p:cNvPicPr>
          <p:nvPr/>
        </p:nvPicPr>
        <p:blipFill>
          <a:blip r:embed="rId2"/>
          <a:stretch>
            <a:fillRect/>
          </a:stretch>
        </p:blipFill>
        <p:spPr>
          <a:xfrm>
            <a:off x="860166" y="531359"/>
            <a:ext cx="10468363" cy="5585341"/>
          </a:xfrm>
          <a:prstGeom prst="rect">
            <a:avLst/>
          </a:prstGeom>
        </p:spPr>
      </p:pic>
    </p:spTree>
    <p:extLst>
      <p:ext uri="{BB962C8B-B14F-4D97-AF65-F5344CB8AC3E}">
        <p14:creationId xmlns:p14="http://schemas.microsoft.com/office/powerpoint/2010/main" val="3234259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1BF4770-5F38-46E2-8D6E-FD2BD78A0E98}"/>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pic>
        <p:nvPicPr>
          <p:cNvPr id="3" name="Picture 2">
            <a:extLst>
              <a:ext uri="{FF2B5EF4-FFF2-40B4-BE49-F238E27FC236}">
                <a16:creationId xmlns:a16="http://schemas.microsoft.com/office/drawing/2014/main" id="{928B5436-19C7-594B-289F-5B959F193389}"/>
              </a:ext>
            </a:extLst>
          </p:cNvPr>
          <p:cNvPicPr>
            <a:picLocks noChangeAspect="1"/>
          </p:cNvPicPr>
          <p:nvPr/>
        </p:nvPicPr>
        <p:blipFill>
          <a:blip r:embed="rId2"/>
          <a:stretch>
            <a:fillRect/>
          </a:stretch>
        </p:blipFill>
        <p:spPr>
          <a:xfrm>
            <a:off x="718457" y="659837"/>
            <a:ext cx="10954139" cy="5514066"/>
          </a:xfrm>
          <a:prstGeom prst="rect">
            <a:avLst/>
          </a:prstGeom>
        </p:spPr>
      </p:pic>
    </p:spTree>
    <p:extLst>
      <p:ext uri="{BB962C8B-B14F-4D97-AF65-F5344CB8AC3E}">
        <p14:creationId xmlns:p14="http://schemas.microsoft.com/office/powerpoint/2010/main" val="9424619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1BF4770-5F38-46E2-8D6E-FD2BD78A0E98}"/>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pic>
        <p:nvPicPr>
          <p:cNvPr id="3" name="Picture 2">
            <a:extLst>
              <a:ext uri="{FF2B5EF4-FFF2-40B4-BE49-F238E27FC236}">
                <a16:creationId xmlns:a16="http://schemas.microsoft.com/office/drawing/2014/main" id="{565293B3-D32F-28BC-054B-C51863C6DDBB}"/>
              </a:ext>
            </a:extLst>
          </p:cNvPr>
          <p:cNvPicPr>
            <a:picLocks noChangeAspect="1"/>
          </p:cNvPicPr>
          <p:nvPr/>
        </p:nvPicPr>
        <p:blipFill>
          <a:blip r:embed="rId2"/>
          <a:stretch>
            <a:fillRect/>
          </a:stretch>
        </p:blipFill>
        <p:spPr>
          <a:xfrm>
            <a:off x="796601" y="475202"/>
            <a:ext cx="10726122" cy="5907595"/>
          </a:xfrm>
          <a:prstGeom prst="rect">
            <a:avLst/>
          </a:prstGeom>
        </p:spPr>
      </p:pic>
    </p:spTree>
    <p:extLst>
      <p:ext uri="{BB962C8B-B14F-4D97-AF65-F5344CB8AC3E}">
        <p14:creationId xmlns:p14="http://schemas.microsoft.com/office/powerpoint/2010/main" val="35467804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07B176E3-0E4A-4053-B7DA-7140035E87FC}"/>
              </a:ext>
            </a:extLst>
          </p:cNvPr>
          <p:cNvSpPr/>
          <p:nvPr/>
        </p:nvSpPr>
        <p:spPr>
          <a:xfrm>
            <a:off x="0" y="0"/>
            <a:ext cx="12192000" cy="6858000"/>
          </a:xfrm>
          <a:prstGeom prst="rect">
            <a:avLst/>
          </a:prstGeom>
          <a:blipFill>
            <a:blip r:embed="rId2" cstate="print"/>
            <a:stretch>
              <a:fillRect/>
            </a:stretch>
          </a:blipFill>
        </p:spPr>
        <p:txBody>
          <a:bodyPr wrap="square" lIns="0" tIns="0" rIns="0" bIns="0" rtlCol="0"/>
          <a:lstStyle/>
          <a:p>
            <a:endParaRPr dirty="0"/>
          </a:p>
        </p:txBody>
      </p:sp>
      <p:sp>
        <p:nvSpPr>
          <p:cNvPr id="5" name="object 5"/>
          <p:cNvSpPr/>
          <p:nvPr/>
        </p:nvSpPr>
        <p:spPr>
          <a:xfrm>
            <a:off x="212035" y="70103"/>
            <a:ext cx="11767930" cy="6693534"/>
          </a:xfrm>
          <a:custGeom>
            <a:avLst/>
            <a:gdLst/>
            <a:ahLst/>
            <a:cxnLst/>
            <a:rect l="l" t="t" r="r" b="b"/>
            <a:pathLst>
              <a:path w="9013190" h="6693534">
                <a:moveTo>
                  <a:pt x="0" y="329946"/>
                </a:moveTo>
                <a:lnTo>
                  <a:pt x="3577" y="281184"/>
                </a:lnTo>
                <a:lnTo>
                  <a:pt x="13968" y="234645"/>
                </a:lnTo>
                <a:lnTo>
                  <a:pt x="30664" y="190840"/>
                </a:lnTo>
                <a:lnTo>
                  <a:pt x="53153" y="150277"/>
                </a:lnTo>
                <a:lnTo>
                  <a:pt x="80925" y="113468"/>
                </a:lnTo>
                <a:lnTo>
                  <a:pt x="113469" y="80923"/>
                </a:lnTo>
                <a:lnTo>
                  <a:pt x="150276" y="53151"/>
                </a:lnTo>
                <a:lnTo>
                  <a:pt x="190835" y="30662"/>
                </a:lnTo>
                <a:lnTo>
                  <a:pt x="234636" y="13967"/>
                </a:lnTo>
                <a:lnTo>
                  <a:pt x="281168" y="3576"/>
                </a:lnTo>
                <a:lnTo>
                  <a:pt x="329920" y="0"/>
                </a:lnTo>
                <a:lnTo>
                  <a:pt x="8682990" y="0"/>
                </a:lnTo>
                <a:lnTo>
                  <a:pt x="8731751" y="3576"/>
                </a:lnTo>
                <a:lnTo>
                  <a:pt x="8778290" y="13967"/>
                </a:lnTo>
                <a:lnTo>
                  <a:pt x="8822095" y="30662"/>
                </a:lnTo>
                <a:lnTo>
                  <a:pt x="8862658" y="53151"/>
                </a:lnTo>
                <a:lnTo>
                  <a:pt x="8899467" y="80923"/>
                </a:lnTo>
                <a:lnTo>
                  <a:pt x="8932012" y="113468"/>
                </a:lnTo>
                <a:lnTo>
                  <a:pt x="8959784" y="150277"/>
                </a:lnTo>
                <a:lnTo>
                  <a:pt x="8982273" y="190840"/>
                </a:lnTo>
                <a:lnTo>
                  <a:pt x="8998968" y="234645"/>
                </a:lnTo>
                <a:lnTo>
                  <a:pt x="9009359" y="281184"/>
                </a:lnTo>
                <a:lnTo>
                  <a:pt x="9012936" y="329946"/>
                </a:lnTo>
                <a:lnTo>
                  <a:pt x="9012936" y="6363487"/>
                </a:lnTo>
                <a:lnTo>
                  <a:pt x="9009359" y="6412239"/>
                </a:lnTo>
                <a:lnTo>
                  <a:pt x="8998968" y="6458771"/>
                </a:lnTo>
                <a:lnTo>
                  <a:pt x="8982273" y="6502571"/>
                </a:lnTo>
                <a:lnTo>
                  <a:pt x="8959784" y="6543130"/>
                </a:lnTo>
                <a:lnTo>
                  <a:pt x="8932012" y="6579937"/>
                </a:lnTo>
                <a:lnTo>
                  <a:pt x="8899467" y="6612482"/>
                </a:lnTo>
                <a:lnTo>
                  <a:pt x="8862658" y="6640254"/>
                </a:lnTo>
                <a:lnTo>
                  <a:pt x="8822095" y="6662742"/>
                </a:lnTo>
                <a:lnTo>
                  <a:pt x="8778290" y="6679438"/>
                </a:lnTo>
                <a:lnTo>
                  <a:pt x="8731751" y="6689829"/>
                </a:lnTo>
                <a:lnTo>
                  <a:pt x="8682990" y="6693406"/>
                </a:lnTo>
                <a:lnTo>
                  <a:pt x="329920" y="6693406"/>
                </a:lnTo>
                <a:lnTo>
                  <a:pt x="281168" y="6689829"/>
                </a:lnTo>
                <a:lnTo>
                  <a:pt x="234636" y="6679438"/>
                </a:lnTo>
                <a:lnTo>
                  <a:pt x="190835" y="6662742"/>
                </a:lnTo>
                <a:lnTo>
                  <a:pt x="150276" y="6640254"/>
                </a:lnTo>
                <a:lnTo>
                  <a:pt x="113469" y="6612482"/>
                </a:lnTo>
                <a:lnTo>
                  <a:pt x="80925" y="6579937"/>
                </a:lnTo>
                <a:lnTo>
                  <a:pt x="53153" y="6543130"/>
                </a:lnTo>
                <a:lnTo>
                  <a:pt x="30664" y="6502571"/>
                </a:lnTo>
                <a:lnTo>
                  <a:pt x="13968" y="6458771"/>
                </a:lnTo>
                <a:lnTo>
                  <a:pt x="3577" y="6412239"/>
                </a:lnTo>
                <a:lnTo>
                  <a:pt x="0" y="6363487"/>
                </a:lnTo>
                <a:lnTo>
                  <a:pt x="0" y="329946"/>
                </a:lnTo>
                <a:close/>
              </a:path>
            </a:pathLst>
          </a:custGeom>
          <a:ln w="6096">
            <a:solidFill>
              <a:srgbClr val="000000"/>
            </a:solidFill>
          </a:ln>
        </p:spPr>
        <p:txBody>
          <a:bodyPr wrap="square" lIns="0" tIns="0" rIns="0" bIns="0" rtlCol="0"/>
          <a:lstStyle/>
          <a:p>
            <a:endParaRPr/>
          </a:p>
        </p:txBody>
      </p:sp>
      <p:sp>
        <p:nvSpPr>
          <p:cNvPr id="6" name="object 6"/>
          <p:cNvSpPr txBox="1">
            <a:spLocks noGrp="1"/>
          </p:cNvSpPr>
          <p:nvPr>
            <p:ph type="title"/>
          </p:nvPr>
        </p:nvSpPr>
        <p:spPr>
          <a:xfrm>
            <a:off x="3733800" y="2438400"/>
            <a:ext cx="4930140" cy="1348740"/>
          </a:xfrm>
          <a:prstGeom prst="rect">
            <a:avLst/>
          </a:prstGeom>
        </p:spPr>
        <p:txBody>
          <a:bodyPr vert="horz" wrap="square" lIns="0" tIns="0" rIns="0" bIns="0" rtlCol="0" anchor="ctr">
            <a:spAutoFit/>
          </a:bodyPr>
          <a:lstStyle/>
          <a:p>
            <a:pPr marL="12700">
              <a:lnSpc>
                <a:spcPct val="100000"/>
              </a:lnSpc>
            </a:pPr>
            <a:r>
              <a:rPr sz="8800" spc="-5" dirty="0">
                <a:latin typeface="Times New Roman"/>
                <a:cs typeface="Times New Roman"/>
              </a:rPr>
              <a:t>Thank</a:t>
            </a:r>
            <a:r>
              <a:rPr sz="8800" spc="-420" dirty="0">
                <a:latin typeface="Times New Roman"/>
                <a:cs typeface="Times New Roman"/>
              </a:rPr>
              <a:t> </a:t>
            </a:r>
            <a:r>
              <a:rPr sz="8800" spc="-295" dirty="0">
                <a:latin typeface="Times New Roman"/>
                <a:cs typeface="Times New Roman"/>
              </a:rPr>
              <a:t>You</a:t>
            </a:r>
            <a:endParaRPr sz="8800" dirty="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360</TotalTime>
  <Words>2570</Words>
  <Application>Microsoft Office PowerPoint</Application>
  <PresentationFormat>Widescreen</PresentationFormat>
  <Paragraphs>181</Paragraphs>
  <Slides>31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Calibri Light</vt:lpstr>
      <vt:lpstr>Times New Roman</vt:lpstr>
      <vt:lpstr>Office Theme</vt:lpstr>
      <vt:lpstr>CodeGalaxy:  An Agentic AI Based Interactive Programming Learning Platform</vt:lpstr>
      <vt:lpstr>PowerPoint Presentation</vt:lpstr>
      <vt:lpstr>1. Introduction</vt:lpstr>
      <vt:lpstr>1. Introduction</vt:lpstr>
      <vt:lpstr>2. System Analysis</vt:lpstr>
      <vt:lpstr>2. System Analysis</vt:lpstr>
      <vt:lpstr>2. System Analysis</vt:lpstr>
      <vt:lpstr>3. Architectural Design</vt:lpstr>
      <vt:lpstr>3. Architectural Design</vt:lpstr>
      <vt:lpstr>Architectural Diagram:</vt:lpstr>
      <vt:lpstr>3. Architectural Design</vt:lpstr>
      <vt:lpstr>Data Flow Diagram:</vt:lpstr>
      <vt:lpstr>3. Architectural Design</vt:lpstr>
      <vt:lpstr>Class Diagram:</vt:lpstr>
      <vt:lpstr>3. Architectural Design</vt:lpstr>
      <vt:lpstr>Use Case Diagram:</vt:lpstr>
      <vt:lpstr>3. Architectural Design</vt:lpstr>
      <vt:lpstr>Sequence Diagram:</vt:lpstr>
      <vt:lpstr>3. Architectural Design</vt:lpstr>
      <vt:lpstr>Activity Diagram:</vt:lpstr>
      <vt:lpstr>Technologies</vt:lpstr>
      <vt:lpstr>4. Implementation and Testing</vt:lpstr>
      <vt:lpstr>PowerPoint Presentation</vt:lpstr>
      <vt:lpstr>4. Implementation and Testing</vt:lpstr>
      <vt:lpstr>PowerPoint Presentation</vt:lpstr>
      <vt:lpstr>4. Implementation and Testing</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SECURE VAULT</dc:title>
  <dc:creator>MRUH</dc:creator>
  <cp:lastModifiedBy>Harsh kumar</cp:lastModifiedBy>
  <cp:revision>162</cp:revision>
  <dcterms:created xsi:type="dcterms:W3CDTF">2024-02-28T18:45:54Z</dcterms:created>
  <dcterms:modified xsi:type="dcterms:W3CDTF">2026-07-26T16:48:15Z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c3bc96b50126489cac4635313cb49982</vt:lpwstr>
  </property>
</Properties>
</file>